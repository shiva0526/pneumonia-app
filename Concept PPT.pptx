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5" r:id="rId3"/>
    <p:sldId id="264" r:id="rId4"/>
    <p:sldId id="267" r:id="rId5"/>
    <p:sldId id="268" r:id="rId6"/>
    <p:sldId id="269" r:id="rId7"/>
    <p:sldId id="271" r:id="rId8"/>
    <p:sldId id="270" r:id="rId9"/>
    <p:sldId id="260" r:id="rId10"/>
    <p:sldId id="261" r:id="rId11"/>
    <p:sldId id="272" r:id="rId12"/>
    <p:sldId id="262" r:id="rId13"/>
    <p:sldId id="263" r:id="rId1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AEEF"/>
    <a:srgbClr val="193B6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0" d="100"/>
          <a:sy n="70" d="100"/>
        </p:scale>
        <p:origin x="1180" y="5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aranya M" userId="73cd7f048245f0f6" providerId="LiveId" clId="{BDE2D995-7B63-4469-815A-40DB8AE97322}"/>
    <pc:docChg chg="modSld">
      <pc:chgData name="Sharanya M" userId="73cd7f048245f0f6" providerId="LiveId" clId="{BDE2D995-7B63-4469-815A-40DB8AE97322}" dt="2025-10-26T16:53:05.871" v="8" actId="20577"/>
      <pc:docMkLst>
        <pc:docMk/>
      </pc:docMkLst>
      <pc:sldChg chg="modSp mod">
        <pc:chgData name="Sharanya M" userId="73cd7f048245f0f6" providerId="LiveId" clId="{BDE2D995-7B63-4469-815A-40DB8AE97322}" dt="2025-10-26T16:53:05.871" v="8" actId="20577"/>
        <pc:sldMkLst>
          <pc:docMk/>
          <pc:sldMk cId="1832648127" sldId="262"/>
        </pc:sldMkLst>
        <pc:spChg chg="mod">
          <ac:chgData name="Sharanya M" userId="73cd7f048245f0f6" providerId="LiveId" clId="{BDE2D995-7B63-4469-815A-40DB8AE97322}" dt="2025-10-26T16:53:05.871" v="8" actId="20577"/>
          <ac:spMkLst>
            <pc:docMk/>
            <pc:sldMk cId="1832648127" sldId="26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45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4063DF40-A8A3-4DA3-BD7C-9127AEC766AF}" type="datetime1">
              <a:rPr lang="en-US" smtClean="0">
                <a:solidFill>
                  <a:prstClr val="black">
                    <a:tint val="75000"/>
                  </a:prstClr>
                </a:solidFill>
              </a:rPr>
              <a:pPr/>
              <a:t>10/26/2025</a:t>
            </a:fld>
            <a:endParaRPr lang="en-US">
              <a:solidFill>
                <a:prstClr val="black">
                  <a:tint val="75000"/>
                </a:prstClr>
              </a:solidFill>
            </a:endParaRPr>
          </a:p>
        </p:txBody>
      </p:sp>
      <p:sp>
        <p:nvSpPr>
          <p:cNvPr id="5" name="Footer Placeholder 4"/>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722227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vl1pPr>
          </a:lstStyle>
          <a:p>
            <a:r>
              <a:rPr lang="en-US"/>
              <a:t>Click to edit Master title style</a:t>
            </a:r>
          </a:p>
        </p:txBody>
      </p:sp>
      <p:sp>
        <p:nvSpPr>
          <p:cNvPr id="3" name="Content Placeholder 2"/>
          <p:cNvSpPr>
            <a:spLocks noGrp="1"/>
          </p:cNvSpPr>
          <p:nvPr>
            <p:ph idx="1"/>
          </p:nvPr>
        </p:nvSpPr>
        <p:spPr/>
        <p:txBody>
          <a:bodyPr/>
          <a:lstStyle>
            <a:lvl1pPr>
              <a:defRPr>
                <a:solidFill>
                  <a:schemeClr val="tx1">
                    <a:lumMod val="65000"/>
                    <a:lumOff val="35000"/>
                  </a:schemeClr>
                </a:solidFill>
              </a:defRPr>
            </a:lvl1pPr>
            <a:lvl2pPr>
              <a:defRPr>
                <a:solidFill>
                  <a:schemeClr val="tx1">
                    <a:lumMod val="65000"/>
                    <a:lumOff val="35000"/>
                  </a:schemeClr>
                </a:solidFill>
              </a:defRPr>
            </a:lvl2pPr>
            <a:lvl3pPr>
              <a:defRPr>
                <a:solidFill>
                  <a:schemeClr val="tx1">
                    <a:lumMod val="65000"/>
                    <a:lumOff val="35000"/>
                  </a:schemeClr>
                </a:solidFill>
              </a:defRPr>
            </a:lvl3pPr>
            <a:lvl4pPr>
              <a:defRPr>
                <a:solidFill>
                  <a:schemeClr val="tx1">
                    <a:lumMod val="65000"/>
                    <a:lumOff val="35000"/>
                  </a:schemeClr>
                </a:solidFill>
              </a:defRPr>
            </a:lvl4pPr>
            <a:lvl5pPr>
              <a:defRPr>
                <a:solidFill>
                  <a:schemeClr val="tx1">
                    <a:lumMod val="65000"/>
                    <a:lumOff val="35000"/>
                  </a:schemeClr>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512928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4500"/>
            </a:lvl1pPr>
          </a:lstStyle>
          <a:p>
            <a:r>
              <a:rPr lang="en-US"/>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6CAB86D0-B768-4562-89BC-E8787C2A9960}" type="datetime1">
              <a:rPr lang="en-US" smtClean="0">
                <a:solidFill>
                  <a:prstClr val="black">
                    <a:tint val="75000"/>
                  </a:prstClr>
                </a:solidFill>
              </a:rPr>
              <a:pPr/>
              <a:t>10/26/2025</a:t>
            </a:fld>
            <a:endParaRPr lang="en-US">
              <a:solidFill>
                <a:prstClr val="black">
                  <a:tint val="75000"/>
                </a:prstClr>
              </a:solidFill>
            </a:endParaRPr>
          </a:p>
        </p:txBody>
      </p:sp>
      <p:sp>
        <p:nvSpPr>
          <p:cNvPr id="5" name="Footer Placeholder 4"/>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129462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286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29150" y="1825625"/>
            <a:ext cx="38862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123D7F70-3C44-4A10-B402-237D081EF686}" type="datetime1">
              <a:rPr lang="en-US" smtClean="0">
                <a:solidFill>
                  <a:prstClr val="black">
                    <a:tint val="75000"/>
                  </a:prstClr>
                </a:solidFill>
              </a:rPr>
              <a:pPr/>
              <a:t>10/26/2025</a:t>
            </a:fld>
            <a:endParaRPr lang="en-US">
              <a:solidFill>
                <a:prstClr val="black">
                  <a:tint val="75000"/>
                </a:prstClr>
              </a:solidFill>
            </a:endParaRPr>
          </a:p>
        </p:txBody>
      </p:sp>
      <p:sp>
        <p:nvSpPr>
          <p:cNvPr id="6" name="Footer Placeholder 5"/>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9895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28650" y="6356351"/>
            <a:ext cx="2057400" cy="365125"/>
          </a:xfrm>
          <a:prstGeom prst="rect">
            <a:avLst/>
          </a:prstGeom>
        </p:spPr>
        <p:txBody>
          <a:bodyPr/>
          <a:lstStyle/>
          <a:p>
            <a:fld id="{BC37DAC8-FAEE-4EBF-9802-8F4C1CDBA594}" type="datetime1">
              <a:rPr lang="en-US" smtClean="0">
                <a:solidFill>
                  <a:prstClr val="black">
                    <a:tint val="75000"/>
                  </a:prstClr>
                </a:solidFill>
              </a:rPr>
              <a:pPr/>
              <a:t>10/26/2025</a:t>
            </a:fld>
            <a:endParaRPr lang="en-US">
              <a:solidFill>
                <a:prstClr val="black">
                  <a:tint val="75000"/>
                </a:prstClr>
              </a:solidFill>
            </a:endParaRPr>
          </a:p>
        </p:txBody>
      </p:sp>
      <p:sp>
        <p:nvSpPr>
          <p:cNvPr id="8" name="Footer Placeholder 7"/>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1528830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28650" y="6356351"/>
            <a:ext cx="2057400" cy="365125"/>
          </a:xfrm>
          <a:prstGeom prst="rect">
            <a:avLst/>
          </a:prstGeom>
        </p:spPr>
        <p:txBody>
          <a:bodyPr/>
          <a:lstStyle/>
          <a:p>
            <a:fld id="{824F67EE-8DD9-4074-B7FD-52ECB918F0F9}" type="datetime1">
              <a:rPr lang="en-US" smtClean="0">
                <a:solidFill>
                  <a:prstClr val="black">
                    <a:tint val="75000"/>
                  </a:prstClr>
                </a:solidFill>
              </a:rPr>
              <a:pPr/>
              <a:t>10/26/2025</a:t>
            </a:fld>
            <a:endParaRPr lang="en-US">
              <a:solidFill>
                <a:prstClr val="black">
                  <a:tint val="75000"/>
                </a:prstClr>
              </a:solidFill>
            </a:endParaRPr>
          </a:p>
        </p:txBody>
      </p:sp>
      <p:sp>
        <p:nvSpPr>
          <p:cNvPr id="4" name="Footer Placeholder 3"/>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574138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userDrawn="1"/>
        </p:nvSpPr>
        <p:spPr>
          <a:xfrm flipV="1">
            <a:off x="0" y="-237847"/>
            <a:ext cx="9144000" cy="4266508"/>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342900"/>
            <a:endParaRPr lang="en-US" sz="1350">
              <a:solidFill>
                <a:prstClr val="white"/>
              </a:solidFill>
            </a:endParaRPr>
          </a:p>
        </p:txBody>
      </p:sp>
      <p:sp>
        <p:nvSpPr>
          <p:cNvPr id="2" name="Date Placeholder 1"/>
          <p:cNvSpPr>
            <a:spLocks noGrp="1"/>
          </p:cNvSpPr>
          <p:nvPr>
            <p:ph type="dt" sz="half" idx="10"/>
          </p:nvPr>
        </p:nvSpPr>
        <p:spPr>
          <a:xfrm>
            <a:off x="628650" y="6356351"/>
            <a:ext cx="2057400" cy="365125"/>
          </a:xfrm>
          <a:prstGeom prst="rect">
            <a:avLst/>
          </a:prstGeom>
        </p:spPr>
        <p:txBody>
          <a:bodyPr/>
          <a:lstStyle/>
          <a:p>
            <a:fld id="{66A4F2C6-3A16-428D-8890-8CD81BD7772C}" type="datetime1">
              <a:rPr lang="en-US" smtClean="0">
                <a:solidFill>
                  <a:prstClr val="black">
                    <a:tint val="75000"/>
                  </a:prstClr>
                </a:solidFill>
              </a:rPr>
              <a:pPr/>
              <a:t>10/26/2025</a:t>
            </a:fld>
            <a:endParaRPr lang="en-US">
              <a:solidFill>
                <a:prstClr val="black">
                  <a:tint val="75000"/>
                </a:prstClr>
              </a:solidFill>
            </a:endParaRPr>
          </a:p>
        </p:txBody>
      </p:sp>
      <p:sp>
        <p:nvSpPr>
          <p:cNvPr id="3" name="Footer Placeholder 2"/>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lvl1pPr>
              <a:defRPr>
                <a:solidFill>
                  <a:schemeClr val="bg1"/>
                </a:solidFill>
              </a:defRPr>
            </a:lvl1pPr>
          </a:lstStyle>
          <a:p>
            <a:fld id="{01C45B1E-3714-436F-A336-26E1E49CD898}" type="slidenum">
              <a:rPr lang="en-US" smtClean="0">
                <a:solidFill>
                  <a:prstClr val="white"/>
                </a:solidFill>
              </a:rPr>
              <a:pPr/>
              <a:t>‹#›</a:t>
            </a:fld>
            <a:endParaRPr lang="en-US">
              <a:solidFill>
                <a:prstClr val="white"/>
              </a:solidFill>
            </a:endParaRPr>
          </a:p>
        </p:txBody>
      </p:sp>
      <p:sp>
        <p:nvSpPr>
          <p:cNvPr id="6" name="Rectangle 5"/>
          <p:cNvSpPr/>
          <p:nvPr userDrawn="1"/>
        </p:nvSpPr>
        <p:spPr>
          <a:xfrm>
            <a:off x="0" y="1"/>
            <a:ext cx="308113" cy="365125"/>
          </a:xfrm>
          <a:prstGeom prst="rect">
            <a:avLst/>
          </a:prstGeom>
          <a:solidFill>
            <a:srgbClr val="33CC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7" name="Rectangle 6"/>
          <p:cNvSpPr/>
          <p:nvPr userDrawn="1"/>
        </p:nvSpPr>
        <p:spPr>
          <a:xfrm>
            <a:off x="314325" y="365126"/>
            <a:ext cx="222388" cy="244475"/>
          </a:xfrm>
          <a:prstGeom prst="rect">
            <a:avLst/>
          </a:prstGeom>
          <a:solidFill>
            <a:srgbClr val="00999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8" name="Rectangle 7"/>
          <p:cNvSpPr/>
          <p:nvPr userDrawn="1"/>
        </p:nvSpPr>
        <p:spPr>
          <a:xfrm>
            <a:off x="159027" y="616918"/>
            <a:ext cx="155299" cy="2103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Tree>
    <p:extLst>
      <p:ext uri="{BB962C8B-B14F-4D97-AF65-F5344CB8AC3E}">
        <p14:creationId xmlns:p14="http://schemas.microsoft.com/office/powerpoint/2010/main" val="15265119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CABE1673-0D0B-4441-9CB1-B21E39A3144D}" type="datetime1">
              <a:rPr lang="en-US" smtClean="0">
                <a:solidFill>
                  <a:prstClr val="black">
                    <a:tint val="75000"/>
                  </a:prstClr>
                </a:solidFill>
              </a:rPr>
              <a:pPr/>
              <a:t>10/26/2025</a:t>
            </a:fld>
            <a:endParaRPr lang="en-US">
              <a:solidFill>
                <a:prstClr val="black">
                  <a:tint val="75000"/>
                </a:prstClr>
              </a:solidFill>
            </a:endParaRPr>
          </a:p>
        </p:txBody>
      </p:sp>
      <p:sp>
        <p:nvSpPr>
          <p:cNvPr id="6" name="Footer Placeholder 5"/>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400025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Edit Master text styles</a:t>
            </a:r>
          </a:p>
        </p:txBody>
      </p:sp>
      <p:sp>
        <p:nvSpPr>
          <p:cNvPr id="5" name="Date Placeholder 4"/>
          <p:cNvSpPr>
            <a:spLocks noGrp="1"/>
          </p:cNvSpPr>
          <p:nvPr>
            <p:ph type="dt" sz="half" idx="10"/>
          </p:nvPr>
        </p:nvSpPr>
        <p:spPr>
          <a:xfrm>
            <a:off x="628650" y="6356351"/>
            <a:ext cx="2057400" cy="365125"/>
          </a:xfrm>
          <a:prstGeom prst="rect">
            <a:avLst/>
          </a:prstGeom>
        </p:spPr>
        <p:txBody>
          <a:bodyPr/>
          <a:lstStyle/>
          <a:p>
            <a:fld id="{B214C546-1FC5-4073-85DF-A5463AB3A4FE}" type="datetime1">
              <a:rPr lang="en-US" smtClean="0">
                <a:solidFill>
                  <a:prstClr val="black">
                    <a:tint val="75000"/>
                  </a:prstClr>
                </a:solidFill>
              </a:rPr>
              <a:pPr/>
              <a:t>10/26/2025</a:t>
            </a:fld>
            <a:endParaRPr lang="en-US">
              <a:solidFill>
                <a:prstClr val="black">
                  <a:tint val="75000"/>
                </a:prstClr>
              </a:solidFill>
            </a:endParaRPr>
          </a:p>
        </p:txBody>
      </p:sp>
      <p:sp>
        <p:nvSpPr>
          <p:cNvPr id="6" name="Footer Placeholder 5"/>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287076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C58E50A4-9416-4E34-AD0E-4D28205B3AB8}" type="datetime1">
              <a:rPr lang="en-US" smtClean="0">
                <a:solidFill>
                  <a:prstClr val="black">
                    <a:tint val="75000"/>
                  </a:prstClr>
                </a:solidFill>
              </a:rPr>
              <a:pPr/>
              <a:t>10/26/2025</a:t>
            </a:fld>
            <a:endParaRPr lang="en-US">
              <a:solidFill>
                <a:prstClr val="black">
                  <a:tint val="75000"/>
                </a:prstClr>
              </a:solidFill>
            </a:endParaRPr>
          </a:p>
        </p:txBody>
      </p:sp>
      <p:sp>
        <p:nvSpPr>
          <p:cNvPr id="5" name="Footer Placeholder 4"/>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61736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28650" y="6356351"/>
            <a:ext cx="2057400" cy="365125"/>
          </a:xfrm>
          <a:prstGeom prst="rect">
            <a:avLst/>
          </a:prstGeom>
        </p:spPr>
        <p:txBody>
          <a:bodyPr/>
          <a:lstStyle/>
          <a:p>
            <a:fld id="{AF098787-47D2-48A9-9C71-66F5A7452A9A}" type="datetime1">
              <a:rPr lang="en-US" smtClean="0">
                <a:solidFill>
                  <a:prstClr val="black">
                    <a:tint val="75000"/>
                  </a:prstClr>
                </a:solidFill>
              </a:rPr>
              <a:pPr/>
              <a:t>10/26/2025</a:t>
            </a:fld>
            <a:endParaRPr lang="en-US">
              <a:solidFill>
                <a:prstClr val="black">
                  <a:tint val="75000"/>
                </a:prstClr>
              </a:solidFill>
            </a:endParaRPr>
          </a:p>
        </p:txBody>
      </p:sp>
      <p:sp>
        <p:nvSpPr>
          <p:cNvPr id="5" name="Footer Placeholder 4"/>
          <p:cNvSpPr>
            <a:spLocks noGrp="1"/>
          </p:cNvSpPr>
          <p:nvPr>
            <p:ph type="ftr" sz="quarter" idx="11"/>
          </p:nvPr>
        </p:nvSpPr>
        <p:spPr>
          <a:xfrm>
            <a:off x="3028950" y="6417689"/>
            <a:ext cx="3086100" cy="365125"/>
          </a:xfrm>
          <a:prstGeom prst="rect">
            <a:avLst/>
          </a:prstGeom>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01C45B1E-3714-436F-A336-26E1E49CD898}"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8011759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Photo - Vertical">
    <p:spTree>
      <p:nvGrpSpPr>
        <p:cNvPr id="1" name=""/>
        <p:cNvGrpSpPr/>
        <p:nvPr/>
      </p:nvGrpSpPr>
      <p:grpSpPr>
        <a:xfrm>
          <a:off x="0" y="0"/>
          <a:ext cx="0" cy="0"/>
          <a:chOff x="0" y="0"/>
          <a:chExt cx="0" cy="0"/>
        </a:xfrm>
      </p:grpSpPr>
      <p:sp>
        <p:nvSpPr>
          <p:cNvPr id="38" name="Shape 38"/>
          <p:cNvSpPr>
            <a:spLocks noGrp="1"/>
          </p:cNvSpPr>
          <p:nvPr>
            <p:ph type="pic" sz="half" idx="13"/>
          </p:nvPr>
        </p:nvSpPr>
        <p:spPr>
          <a:xfrm>
            <a:off x="4723805" y="446484"/>
            <a:ext cx="3750469" cy="5786438"/>
          </a:xfrm>
          <a:prstGeom prst="rect">
            <a:avLst/>
          </a:prstGeom>
        </p:spPr>
        <p:txBody>
          <a:bodyPr lIns="91439" tIns="45719" rIns="91439" bIns="45719" anchor="t">
            <a:noAutofit/>
          </a:bodyPr>
          <a:lstStyle/>
          <a:p>
            <a:endParaRPr/>
          </a:p>
        </p:txBody>
      </p:sp>
      <p:sp>
        <p:nvSpPr>
          <p:cNvPr id="39" name="Shape 39"/>
          <p:cNvSpPr>
            <a:spLocks noGrp="1"/>
          </p:cNvSpPr>
          <p:nvPr>
            <p:ph type="title"/>
          </p:nvPr>
        </p:nvSpPr>
        <p:spPr>
          <a:xfrm>
            <a:off x="669727" y="446484"/>
            <a:ext cx="3750469" cy="2803922"/>
          </a:xfrm>
          <a:prstGeom prst="rect">
            <a:avLst/>
          </a:prstGeom>
        </p:spPr>
        <p:txBody>
          <a:bodyPr anchor="b"/>
          <a:lstStyle>
            <a:lvl1pPr>
              <a:defRPr sz="3164"/>
            </a:lvl1pPr>
          </a:lstStyle>
          <a:p>
            <a:r>
              <a:t>Title Text</a:t>
            </a:r>
          </a:p>
        </p:txBody>
      </p:sp>
      <p:sp>
        <p:nvSpPr>
          <p:cNvPr id="40" name="Shape 40"/>
          <p:cNvSpPr>
            <a:spLocks noGrp="1"/>
          </p:cNvSpPr>
          <p:nvPr>
            <p:ph type="body" sz="quarter" idx="1"/>
          </p:nvPr>
        </p:nvSpPr>
        <p:spPr>
          <a:xfrm>
            <a:off x="669727" y="3348634"/>
            <a:ext cx="3750469" cy="2884289"/>
          </a:xfrm>
          <a:prstGeom prst="rect">
            <a:avLst/>
          </a:prstGeom>
        </p:spPr>
        <p:txBody>
          <a:bodyPr anchor="t"/>
          <a:lstStyle>
            <a:lvl1pPr marL="0" indent="0" algn="ctr">
              <a:spcBef>
                <a:spcPts val="0"/>
              </a:spcBef>
              <a:buSzTx/>
              <a:buNone/>
              <a:defRPr sz="1688"/>
            </a:lvl1pPr>
            <a:lvl2pPr marL="0" indent="120547" algn="ctr">
              <a:spcBef>
                <a:spcPts val="0"/>
              </a:spcBef>
              <a:buSzTx/>
              <a:buNone/>
              <a:defRPr sz="1688"/>
            </a:lvl2pPr>
            <a:lvl3pPr marL="0" indent="241093" algn="ctr">
              <a:spcBef>
                <a:spcPts val="0"/>
              </a:spcBef>
              <a:buSzTx/>
              <a:buNone/>
              <a:defRPr sz="1688"/>
            </a:lvl3pPr>
            <a:lvl4pPr marL="0" indent="361640" algn="ctr">
              <a:spcBef>
                <a:spcPts val="0"/>
              </a:spcBef>
              <a:buSzTx/>
              <a:buNone/>
              <a:defRPr sz="1688"/>
            </a:lvl4pPr>
            <a:lvl5pPr marL="0" indent="482186" algn="ctr">
              <a:spcBef>
                <a:spcPts val="0"/>
              </a:spcBef>
              <a:buSzTx/>
              <a:buNone/>
              <a:defRPr sz="1688"/>
            </a:lvl5pPr>
          </a:lstStyle>
          <a:p>
            <a:r>
              <a:t>Body Level One</a:t>
            </a:r>
          </a:p>
          <a:p>
            <a:pPr lvl="1"/>
            <a:r>
              <a:t>Body Level Two</a:t>
            </a:r>
          </a:p>
          <a:p>
            <a:pPr lvl="2"/>
            <a:r>
              <a:t>Body Level Three</a:t>
            </a:r>
          </a:p>
          <a:p>
            <a:pPr lvl="3"/>
            <a:r>
              <a:t>Body Level Four</a:t>
            </a:r>
          </a:p>
          <a:p>
            <a:pPr lvl="4"/>
            <a:r>
              <a:t>Body Level Five</a:t>
            </a:r>
          </a:p>
        </p:txBody>
      </p:sp>
      <p:sp>
        <p:nvSpPr>
          <p:cNvPr id="41" name="Shape 41"/>
          <p:cNvSpPr>
            <a:spLocks noGrp="1"/>
          </p:cNvSpPr>
          <p:nvPr>
            <p:ph type="sldNum" sz="quarter" idx="2"/>
          </p:nvPr>
        </p:nvSpPr>
        <p:spPr>
          <a:xfrm>
            <a:off x="4437983" y="6505278"/>
            <a:ext cx="259105" cy="267891"/>
          </a:xfrm>
          <a:prstGeom prst="rect">
            <a:avLst/>
          </a:prstGeom>
        </p:spPr>
        <p:txBody>
          <a:bodyPr/>
          <a:lstStyle/>
          <a:p>
            <a:fld id="{86CB4B4D-7CA3-9044-876B-883B54F8677D}"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2704717593"/>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ne column text">
    <p:spTree>
      <p:nvGrpSpPr>
        <p:cNvPr id="1" name="Shape 33"/>
        <p:cNvGrpSpPr/>
        <p:nvPr/>
      </p:nvGrpSpPr>
      <p:grpSpPr>
        <a:xfrm>
          <a:off x="0" y="0"/>
          <a:ext cx="0" cy="0"/>
          <a:chOff x="0" y="0"/>
          <a:chExt cx="0" cy="0"/>
        </a:xfrm>
      </p:grpSpPr>
      <p:sp>
        <p:nvSpPr>
          <p:cNvPr id="35" name="Shape 35"/>
          <p:cNvSpPr txBox="1">
            <a:spLocks noGrp="1"/>
          </p:cNvSpPr>
          <p:nvPr>
            <p:ph type="title"/>
          </p:nvPr>
        </p:nvSpPr>
        <p:spPr>
          <a:xfrm>
            <a:off x="311701" y="842402"/>
            <a:ext cx="2807999" cy="1007599"/>
          </a:xfrm>
          <a:prstGeom prst="rect">
            <a:avLst/>
          </a:prstGeom>
        </p:spPr>
        <p:txBody>
          <a:bodyPr lIns="91425" tIns="91425" rIns="91425" bIns="91425" anchor="b" anchorCtr="0"/>
          <a:lstStyle>
            <a:lvl1pPr lvl="0">
              <a:spcBef>
                <a:spcPts val="0"/>
              </a:spcBef>
              <a:buSzPct val="100000"/>
              <a:defRPr sz="1800"/>
            </a:lvl1pPr>
            <a:lvl2pPr lvl="1">
              <a:spcBef>
                <a:spcPts val="0"/>
              </a:spcBef>
              <a:buSzPct val="100000"/>
              <a:defRPr sz="1800"/>
            </a:lvl2pPr>
            <a:lvl3pPr lvl="2">
              <a:spcBef>
                <a:spcPts val="0"/>
              </a:spcBef>
              <a:buSzPct val="100000"/>
              <a:defRPr sz="1800"/>
            </a:lvl3pPr>
            <a:lvl4pPr lvl="3">
              <a:spcBef>
                <a:spcPts val="0"/>
              </a:spcBef>
              <a:buSzPct val="100000"/>
              <a:defRPr sz="1800"/>
            </a:lvl4pPr>
            <a:lvl5pPr lvl="4">
              <a:spcBef>
                <a:spcPts val="0"/>
              </a:spcBef>
              <a:buSzPct val="100000"/>
              <a:defRPr sz="1800"/>
            </a:lvl5pPr>
            <a:lvl6pPr lvl="5">
              <a:spcBef>
                <a:spcPts val="0"/>
              </a:spcBef>
              <a:buSzPct val="100000"/>
              <a:defRPr sz="1800"/>
            </a:lvl6pPr>
            <a:lvl7pPr lvl="6">
              <a:spcBef>
                <a:spcPts val="0"/>
              </a:spcBef>
              <a:buSzPct val="100000"/>
              <a:defRPr sz="1800"/>
            </a:lvl7pPr>
            <a:lvl8pPr lvl="7">
              <a:spcBef>
                <a:spcPts val="0"/>
              </a:spcBef>
              <a:buSzPct val="100000"/>
              <a:defRPr sz="1800"/>
            </a:lvl8pPr>
            <a:lvl9pPr lvl="8">
              <a:spcBef>
                <a:spcPts val="0"/>
              </a:spcBef>
              <a:buSzPct val="100000"/>
              <a:defRPr sz="1800"/>
            </a:lvl9pPr>
          </a:lstStyle>
          <a:p>
            <a:endParaRPr/>
          </a:p>
        </p:txBody>
      </p:sp>
      <p:sp>
        <p:nvSpPr>
          <p:cNvPr id="36" name="Shape 36"/>
          <p:cNvSpPr txBox="1">
            <a:spLocks noGrp="1"/>
          </p:cNvSpPr>
          <p:nvPr>
            <p:ph type="body" idx="1"/>
          </p:nvPr>
        </p:nvSpPr>
        <p:spPr>
          <a:xfrm>
            <a:off x="311701" y="2157604"/>
            <a:ext cx="2807999" cy="3934400"/>
          </a:xfrm>
          <a:prstGeom prst="rect">
            <a:avLst/>
          </a:prstGeom>
        </p:spPr>
        <p:txBody>
          <a:bodyPr lIns="91425" tIns="91425" rIns="91425" bIns="91425" anchor="t" anchorCtr="0"/>
          <a:lstStyle>
            <a:lvl1pPr lvl="0">
              <a:spcBef>
                <a:spcPts val="0"/>
              </a:spcBef>
              <a:buSzPct val="100000"/>
              <a:defRPr sz="900"/>
            </a:lvl1pPr>
            <a:lvl2pPr lvl="1">
              <a:spcBef>
                <a:spcPts val="0"/>
              </a:spcBef>
              <a:buSzPct val="100000"/>
              <a:defRPr sz="900"/>
            </a:lvl2pPr>
            <a:lvl3pPr lvl="2">
              <a:spcBef>
                <a:spcPts val="0"/>
              </a:spcBef>
              <a:buSzPct val="100000"/>
              <a:defRPr sz="900"/>
            </a:lvl3pPr>
            <a:lvl4pPr lvl="3">
              <a:spcBef>
                <a:spcPts val="0"/>
              </a:spcBef>
              <a:buSzPct val="100000"/>
              <a:defRPr sz="900"/>
            </a:lvl4pPr>
            <a:lvl5pPr lvl="4">
              <a:spcBef>
                <a:spcPts val="0"/>
              </a:spcBef>
              <a:buSzPct val="100000"/>
              <a:defRPr sz="900"/>
            </a:lvl5pPr>
            <a:lvl6pPr lvl="5">
              <a:spcBef>
                <a:spcPts val="0"/>
              </a:spcBef>
              <a:buSzPct val="100000"/>
              <a:defRPr sz="900"/>
            </a:lvl6pPr>
            <a:lvl7pPr lvl="6">
              <a:spcBef>
                <a:spcPts val="0"/>
              </a:spcBef>
              <a:buSzPct val="100000"/>
              <a:defRPr sz="900"/>
            </a:lvl7pPr>
            <a:lvl8pPr lvl="7">
              <a:spcBef>
                <a:spcPts val="0"/>
              </a:spcBef>
              <a:buSzPct val="100000"/>
              <a:defRPr sz="900"/>
            </a:lvl8pPr>
            <a:lvl9pPr lvl="8">
              <a:spcBef>
                <a:spcPts val="0"/>
              </a:spcBef>
              <a:buSzPct val="100000"/>
              <a:defRPr sz="900"/>
            </a:lvl9pPr>
          </a:lstStyle>
          <a:p>
            <a:endParaRPr/>
          </a:p>
        </p:txBody>
      </p:sp>
      <p:sp>
        <p:nvSpPr>
          <p:cNvPr id="37" name="Shape 37"/>
          <p:cNvSpPr txBox="1">
            <a:spLocks noGrp="1"/>
          </p:cNvSpPr>
          <p:nvPr>
            <p:ph type="sldNum" idx="12"/>
          </p:nvPr>
        </p:nvSpPr>
        <p:spPr>
          <a:xfrm>
            <a:off x="8472458" y="6217621"/>
            <a:ext cx="548699" cy="524800"/>
          </a:xfrm>
          <a:prstGeom prst="rect">
            <a:avLst/>
          </a:prstGeom>
        </p:spPr>
        <p:txBody>
          <a:bodyPr lIns="91425" tIns="91425" rIns="91425" bIns="91425" anchor="ctr" anchorCtr="0">
            <a:noAutofit/>
          </a:bodyPr>
          <a:lstStyle/>
          <a:p>
            <a:fld id="{00000000-1234-1234-1234-123412341234}" type="slidenum">
              <a:rPr lang="en" smtClean="0">
                <a:solidFill>
                  <a:prstClr val="white"/>
                </a:solidFill>
              </a:rPr>
              <a:pPr/>
              <a:t>‹#›</a:t>
            </a:fld>
            <a:endParaRPr lang="en">
              <a:solidFill>
                <a:prstClr val="white"/>
              </a:solidFill>
            </a:endParaRPr>
          </a:p>
        </p:txBody>
      </p:sp>
    </p:spTree>
    <p:extLst>
      <p:ext uri="{BB962C8B-B14F-4D97-AF65-F5344CB8AC3E}">
        <p14:creationId xmlns:p14="http://schemas.microsoft.com/office/powerpoint/2010/main" val="38246333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4107" y="351211"/>
            <a:ext cx="8382000" cy="553998"/>
          </a:xfrm>
          <a:prstGeom prst="rect">
            <a:avLst/>
          </a:prstGeom>
        </p:spPr>
        <p:txBody>
          <a:bodyPr/>
          <a:lstStyle>
            <a:lvl1pPr>
              <a:defRPr sz="3000" b="1">
                <a:solidFill>
                  <a:schemeClr val="tx1"/>
                </a:solidFill>
              </a:defRPr>
            </a:lvl1pPr>
          </a:lstStyle>
          <a:p>
            <a:r>
              <a:rPr lang="en-US"/>
              <a:t>Click to edit Master title style</a:t>
            </a:r>
          </a:p>
        </p:txBody>
      </p:sp>
      <p:sp>
        <p:nvSpPr>
          <p:cNvPr id="6" name="Text Placeholder 5"/>
          <p:cNvSpPr>
            <a:spLocks noGrp="1"/>
          </p:cNvSpPr>
          <p:nvPr>
            <p:ph type="body" sz="quarter" idx="10"/>
          </p:nvPr>
        </p:nvSpPr>
        <p:spPr>
          <a:xfrm>
            <a:off x="381001" y="1411553"/>
            <a:ext cx="8382000" cy="2210862"/>
          </a:xfrm>
          <a:prstGeom prst="rect">
            <a:avLst/>
          </a:prstGeom>
        </p:spPr>
        <p:txBody>
          <a:bodyPr/>
          <a:lstStyle>
            <a:lvl1pPr>
              <a:lnSpc>
                <a:spcPct val="90000"/>
              </a:lnSpc>
              <a:defRPr/>
            </a:lvl1pPr>
            <a:lvl2pPr>
              <a:lnSpc>
                <a:spcPct val="90000"/>
              </a:lnSpc>
              <a:defRPr/>
            </a:lvl2pPr>
            <a:lvl3pPr>
              <a:lnSpc>
                <a:spcPct val="90000"/>
              </a:lnSpc>
              <a:defRPr/>
            </a:lvl3pPr>
            <a:lvl4pPr>
              <a:lnSpc>
                <a:spcPct val="90000"/>
              </a:lnSpc>
              <a:defRPr/>
            </a:lvl4pPr>
            <a:lvl5pPr>
              <a:lnSpc>
                <a:spcPct val="90000"/>
              </a:lnSpc>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10200155"/>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1_section">
    <p:spTree>
      <p:nvGrpSpPr>
        <p:cNvPr id="1" name=""/>
        <p:cNvGrpSpPr/>
        <p:nvPr/>
      </p:nvGrpSpPr>
      <p:grpSpPr>
        <a:xfrm>
          <a:off x="0" y="0"/>
          <a:ext cx="0" cy="0"/>
          <a:chOff x="0" y="0"/>
          <a:chExt cx="0" cy="0"/>
        </a:xfrm>
      </p:grpSpPr>
      <p:sp>
        <p:nvSpPr>
          <p:cNvPr id="5" name="Rectangle 4"/>
          <p:cNvSpPr/>
          <p:nvPr userDrawn="1"/>
        </p:nvSpPr>
        <p:spPr>
          <a:xfrm>
            <a:off x="4572000" y="0"/>
            <a:ext cx="457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675">
              <a:solidFill>
                <a:prstClr val="white"/>
              </a:solidFill>
            </a:endParaRPr>
          </a:p>
        </p:txBody>
      </p:sp>
    </p:spTree>
    <p:extLst>
      <p:ext uri="{BB962C8B-B14F-4D97-AF65-F5344CB8AC3E}">
        <p14:creationId xmlns:p14="http://schemas.microsoft.com/office/powerpoint/2010/main" val="2870216244"/>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type="tx" preserve="1">
  <p:cSld name="Title - Top">
    <p:spTree>
      <p:nvGrpSpPr>
        <p:cNvPr id="1" name=""/>
        <p:cNvGrpSpPr/>
        <p:nvPr/>
      </p:nvGrpSpPr>
      <p:grpSpPr>
        <a:xfrm>
          <a:off x="0" y="0"/>
          <a:ext cx="0" cy="0"/>
          <a:chOff x="0" y="0"/>
          <a:chExt cx="0" cy="0"/>
        </a:xfrm>
      </p:grpSpPr>
      <p:sp>
        <p:nvSpPr>
          <p:cNvPr id="48" name="Shape 48"/>
          <p:cNvSpPr>
            <a:spLocks noGrp="1"/>
          </p:cNvSpPr>
          <p:nvPr>
            <p:ph type="title"/>
          </p:nvPr>
        </p:nvSpPr>
        <p:spPr>
          <a:xfrm>
            <a:off x="669727" y="312540"/>
            <a:ext cx="7804547" cy="1518047"/>
          </a:xfrm>
          <a:prstGeom prst="rect">
            <a:avLst/>
          </a:prstGeom>
        </p:spPr>
        <p:txBody>
          <a:bodyPr/>
          <a:lstStyle/>
          <a:p>
            <a:r>
              <a:t>Title Text</a:t>
            </a:r>
          </a:p>
        </p:txBody>
      </p:sp>
      <p:sp>
        <p:nvSpPr>
          <p:cNvPr id="49" name="Shape 49"/>
          <p:cNvSpPr>
            <a:spLocks noGrp="1"/>
          </p:cNvSpPr>
          <p:nvPr>
            <p:ph type="sldNum" sz="quarter" idx="2"/>
          </p:nvPr>
        </p:nvSpPr>
        <p:spPr>
          <a:xfrm>
            <a:off x="4437983" y="6505278"/>
            <a:ext cx="259105" cy="267891"/>
          </a:xfrm>
          <a:prstGeom prst="rect">
            <a:avLst/>
          </a:prstGeom>
        </p:spPr>
        <p:txBody>
          <a:bodyPr/>
          <a:lstStyle/>
          <a:p>
            <a:fld id="{86CB4B4D-7CA3-9044-876B-883B54F8677D}" type="slidenum">
              <a:rPr>
                <a:solidFill>
                  <a:prstClr val="white"/>
                </a:solidFill>
              </a:rPr>
              <a:pPr/>
              <a:t>‹#›</a:t>
            </a:fld>
            <a:endParaRPr>
              <a:solidFill>
                <a:prstClr val="white"/>
              </a:solidFill>
            </a:endParaRPr>
          </a:p>
        </p:txBody>
      </p:sp>
    </p:spTree>
    <p:extLst>
      <p:ext uri="{BB962C8B-B14F-4D97-AF65-F5344CB8AC3E}">
        <p14:creationId xmlns:p14="http://schemas.microsoft.com/office/powerpoint/2010/main" val="398168422"/>
      </p:ext>
    </p:extLst>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6_section">
    <p:spTree>
      <p:nvGrpSpPr>
        <p:cNvPr id="1" name=""/>
        <p:cNvGrpSpPr/>
        <p:nvPr/>
      </p:nvGrpSpPr>
      <p:grpSpPr>
        <a:xfrm>
          <a:off x="0" y="0"/>
          <a:ext cx="0" cy="0"/>
          <a:chOff x="0" y="0"/>
          <a:chExt cx="0" cy="0"/>
        </a:xfrm>
      </p:grpSpPr>
      <p:sp>
        <p:nvSpPr>
          <p:cNvPr id="5" name="Rectangle 4"/>
          <p:cNvSpPr/>
          <p:nvPr userDrawn="1"/>
        </p:nvSpPr>
        <p:spPr>
          <a:xfrm>
            <a:off x="0" y="3429002"/>
            <a:ext cx="9144000" cy="3428999"/>
          </a:xfrm>
          <a:prstGeom prst="rect">
            <a:avLst/>
          </a:prstGeom>
          <a:solidFill>
            <a:srgbClr val="58536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prstClr val="white"/>
              </a:solidFill>
            </a:endParaRPr>
          </a:p>
        </p:txBody>
      </p:sp>
      <p:sp>
        <p:nvSpPr>
          <p:cNvPr id="3" name="Rectangle 2"/>
          <p:cNvSpPr/>
          <p:nvPr userDrawn="1"/>
        </p:nvSpPr>
        <p:spPr>
          <a:xfrm>
            <a:off x="0" y="2"/>
            <a:ext cx="9144000" cy="3428999"/>
          </a:xfrm>
          <a:prstGeom prst="rect">
            <a:avLst/>
          </a:prstGeom>
          <a:solidFill>
            <a:srgbClr val="ADB2B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900">
              <a:solidFill>
                <a:prstClr val="white"/>
              </a:solidFill>
            </a:endParaRPr>
          </a:p>
        </p:txBody>
      </p:sp>
    </p:spTree>
    <p:extLst>
      <p:ext uri="{BB962C8B-B14F-4D97-AF65-F5344CB8AC3E}">
        <p14:creationId xmlns:p14="http://schemas.microsoft.com/office/powerpoint/2010/main" val="2854461622"/>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spTree>
      <p:nvGrpSpPr>
        <p:cNvPr id="1" name=""/>
        <p:cNvGrpSpPr/>
        <p:nvPr/>
      </p:nvGrpSpPr>
      <p:grpSpPr>
        <a:xfrm>
          <a:off x="0" y="0"/>
          <a:ext cx="0" cy="0"/>
          <a:chOff x="0" y="0"/>
          <a:chExt cx="0" cy="0"/>
        </a:xfrm>
      </p:grpSpPr>
      <p:sp>
        <p:nvSpPr>
          <p:cNvPr id="2" name="Title 1"/>
          <p:cNvSpPr>
            <a:spLocks noGrp="1"/>
          </p:cNvSpPr>
          <p:nvPr>
            <p:ph type="ctrTitle"/>
          </p:nvPr>
        </p:nvSpPr>
        <p:spPr>
          <a:xfrm>
            <a:off x="228601" y="0"/>
            <a:ext cx="7043208" cy="1523494"/>
          </a:xfrm>
          <a:prstGeom prst="rect">
            <a:avLst/>
          </a:prstGeom>
        </p:spPr>
        <p:txBody>
          <a:bodyPr anchor="ctr" anchorCtr="0">
            <a:noAutofit/>
          </a:bodyPr>
          <a:lstStyle>
            <a:lvl1pPr>
              <a:lnSpc>
                <a:spcPct val="90000"/>
              </a:lnSpc>
              <a:defRPr sz="4050"/>
            </a:lvl1pPr>
          </a:lstStyle>
          <a:p>
            <a:r>
              <a:rPr lang="en-US"/>
              <a:t>Click to edit Master title style</a:t>
            </a:r>
          </a:p>
        </p:txBody>
      </p:sp>
      <p:sp>
        <p:nvSpPr>
          <p:cNvPr id="3" name="Subtitle 2"/>
          <p:cNvSpPr>
            <a:spLocks noGrp="1"/>
          </p:cNvSpPr>
          <p:nvPr>
            <p:ph type="subTitle" idx="1"/>
          </p:nvPr>
        </p:nvSpPr>
        <p:spPr>
          <a:xfrm>
            <a:off x="1368956" y="4344989"/>
            <a:ext cx="7043208" cy="461665"/>
          </a:xfrm>
          <a:prstGeom prst="rect">
            <a:avLst/>
          </a:prstGeom>
        </p:spPr>
        <p:txBody>
          <a:bodyPr>
            <a:noAutofit/>
          </a:bodyPr>
          <a:lstStyle>
            <a:lvl1pPr marL="0" indent="0" algn="l">
              <a:lnSpc>
                <a:spcPct val="90000"/>
              </a:lnSpc>
              <a:spcBef>
                <a:spcPts val="0"/>
              </a:spcBef>
              <a:buNone/>
              <a:defRPr>
                <a:solidFill>
                  <a:schemeClr val="bg1"/>
                </a:solidFill>
              </a:defRPr>
            </a:lvl1pPr>
            <a:lvl2pPr marL="342869" indent="0" algn="ctr">
              <a:buNone/>
              <a:defRPr>
                <a:solidFill>
                  <a:schemeClr val="tx1">
                    <a:tint val="75000"/>
                  </a:schemeClr>
                </a:solidFill>
              </a:defRPr>
            </a:lvl2pPr>
            <a:lvl3pPr marL="685737" indent="0" algn="ctr">
              <a:buNone/>
              <a:defRPr>
                <a:solidFill>
                  <a:schemeClr val="tx1">
                    <a:tint val="75000"/>
                  </a:schemeClr>
                </a:solidFill>
              </a:defRPr>
            </a:lvl3pPr>
            <a:lvl4pPr marL="1028606" indent="0" algn="ctr">
              <a:buNone/>
              <a:defRPr>
                <a:solidFill>
                  <a:schemeClr val="tx1">
                    <a:tint val="75000"/>
                  </a:schemeClr>
                </a:solidFill>
              </a:defRPr>
            </a:lvl4pPr>
            <a:lvl5pPr marL="1371476" indent="0" algn="ctr">
              <a:buNone/>
              <a:defRPr>
                <a:solidFill>
                  <a:schemeClr val="tx1">
                    <a:tint val="75000"/>
                  </a:schemeClr>
                </a:solidFill>
              </a:defRPr>
            </a:lvl5pPr>
            <a:lvl6pPr marL="1714344" indent="0" algn="ctr">
              <a:buNone/>
              <a:defRPr>
                <a:solidFill>
                  <a:schemeClr val="tx1">
                    <a:tint val="75000"/>
                  </a:schemeClr>
                </a:solidFill>
              </a:defRPr>
            </a:lvl6pPr>
            <a:lvl7pPr marL="2057213" indent="0" algn="ctr">
              <a:buNone/>
              <a:defRPr>
                <a:solidFill>
                  <a:schemeClr val="tx1">
                    <a:tint val="75000"/>
                  </a:schemeClr>
                </a:solidFill>
              </a:defRPr>
            </a:lvl7pPr>
            <a:lvl8pPr marL="2400081" indent="0" algn="ctr">
              <a:buNone/>
              <a:defRPr>
                <a:solidFill>
                  <a:schemeClr val="tx1">
                    <a:tint val="75000"/>
                  </a:schemeClr>
                </a:solidFill>
              </a:defRPr>
            </a:lvl8pPr>
            <a:lvl9pPr marL="2742950" indent="0" algn="ctr">
              <a:buNone/>
              <a:defRPr>
                <a:solidFill>
                  <a:schemeClr val="tx1">
                    <a:tint val="75000"/>
                  </a:schemeClr>
                </a:solidFill>
              </a:defRPr>
            </a:lvl9pPr>
          </a:lstStyle>
          <a:p>
            <a:r>
              <a:rPr lang="en-US"/>
              <a:t>Click to edit Master subtitle style</a:t>
            </a:r>
          </a:p>
        </p:txBody>
      </p:sp>
      <p:sp>
        <p:nvSpPr>
          <p:cNvPr id="7" name="Text Placeholder 6"/>
          <p:cNvSpPr>
            <a:spLocks noGrp="1"/>
          </p:cNvSpPr>
          <p:nvPr>
            <p:ph type="body" sz="quarter" idx="10"/>
          </p:nvPr>
        </p:nvSpPr>
        <p:spPr>
          <a:xfrm>
            <a:off x="722050" y="2355850"/>
            <a:ext cx="7690114" cy="1384994"/>
          </a:xfrm>
          <a:prstGeom prst="rect">
            <a:avLst/>
          </a:prstGeom>
        </p:spPr>
        <p:txBody>
          <a:bodyPr>
            <a:noAutofit/>
            <a:scene3d>
              <a:camera prst="orthographicFront"/>
              <a:lightRig rig="flat" dir="t"/>
            </a:scene3d>
            <a:sp3d extrusionH="88900" contourW="2540">
              <a:bevelT w="38100" h="31750"/>
              <a:contourClr>
                <a:srgbClr val="F4A234"/>
              </a:contourClr>
            </a:sp3d>
          </a:bodyPr>
          <a:lstStyle>
            <a:lvl1pPr marL="0" indent="0" algn="l">
              <a:buFont typeface="Arial" pitchFamily="34" charset="0"/>
              <a:buNone/>
              <a:defRPr kumimoji="0" lang="en-US" sz="7499" b="1" i="1" u="none" strike="noStrike" kern="1200" cap="none" spc="-482" normalizeH="0" baseline="0" noProof="0" dirty="0" smtClean="0">
                <a:ln w="11430"/>
                <a:gradFill>
                  <a:gsLst>
                    <a:gs pos="0">
                      <a:srgbClr val="FF9929">
                        <a:lumMod val="20000"/>
                        <a:lumOff val="80000"/>
                      </a:srgbClr>
                    </a:gs>
                    <a:gs pos="28000">
                      <a:srgbClr val="F8F57B"/>
                    </a:gs>
                    <a:gs pos="62000">
                      <a:srgbClr val="D5B953"/>
                    </a:gs>
                    <a:gs pos="88000">
                      <a:srgbClr val="D1943B"/>
                    </a:gs>
                  </a:gsLst>
                  <a:lin ang="5400000"/>
                </a:gradFill>
                <a:effectLst>
                  <a:outerShdw blurRad="50800" dist="39000" dir="5460000" algn="tl">
                    <a:srgbClr val="000000">
                      <a:alpha val="38000"/>
                    </a:srgbClr>
                  </a:outerShdw>
                </a:effectLst>
                <a:uLnTx/>
                <a:uFillTx/>
                <a:latin typeface="+mn-lt"/>
                <a:ea typeface="+mn-ea"/>
                <a:cs typeface="+mn-cs"/>
              </a:defRPr>
            </a:lvl1pPr>
          </a:lstStyle>
          <a:p>
            <a:pPr lvl="0"/>
            <a:r>
              <a:rPr lang="en-US"/>
              <a:t>Click to edit Master text styles</a:t>
            </a:r>
          </a:p>
        </p:txBody>
      </p:sp>
    </p:spTree>
    <p:extLst>
      <p:ext uri="{BB962C8B-B14F-4D97-AF65-F5344CB8AC3E}">
        <p14:creationId xmlns:p14="http://schemas.microsoft.com/office/powerpoint/2010/main" val="3822640346"/>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2"/>
            <a:ext cx="7886700" cy="812849"/>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2767" y="1175201"/>
            <a:ext cx="78867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p:nvPr userDrawn="1"/>
        </p:nvSpPr>
        <p:spPr>
          <a:xfrm>
            <a:off x="0" y="1"/>
            <a:ext cx="308113" cy="365125"/>
          </a:xfrm>
          <a:prstGeom prst="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8" name="Rectangle 7"/>
          <p:cNvSpPr/>
          <p:nvPr userDrawn="1"/>
        </p:nvSpPr>
        <p:spPr>
          <a:xfrm>
            <a:off x="314325" y="365126"/>
            <a:ext cx="222388" cy="244475"/>
          </a:xfrm>
          <a:prstGeom prst="rect">
            <a:avLst/>
          </a:prstGeom>
          <a:solidFill>
            <a:srgbClr val="193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9" name="Rectangle 8"/>
          <p:cNvSpPr/>
          <p:nvPr userDrawn="1"/>
        </p:nvSpPr>
        <p:spPr>
          <a:xfrm>
            <a:off x="1" y="6492876"/>
            <a:ext cx="9144000" cy="365125"/>
          </a:xfrm>
          <a:prstGeom prst="rect">
            <a:avLst/>
          </a:prstGeom>
          <a:solidFill>
            <a:srgbClr val="00AEE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11" name="Rectangle 10"/>
          <p:cNvSpPr/>
          <p:nvPr userDrawn="1"/>
        </p:nvSpPr>
        <p:spPr>
          <a:xfrm flipV="1">
            <a:off x="626821" y="584452"/>
            <a:ext cx="8517179" cy="4571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12" name="Rectangle 11"/>
          <p:cNvSpPr/>
          <p:nvPr userDrawn="1"/>
        </p:nvSpPr>
        <p:spPr>
          <a:xfrm>
            <a:off x="-1" y="6590108"/>
            <a:ext cx="9144001" cy="267893"/>
          </a:xfrm>
          <a:prstGeom prst="rect">
            <a:avLst/>
          </a:prstGeom>
          <a:solidFill>
            <a:srgbClr val="193B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
        <p:nvSpPr>
          <p:cNvPr id="6" name="Slide Number Placeholder 5"/>
          <p:cNvSpPr>
            <a:spLocks noGrp="1"/>
          </p:cNvSpPr>
          <p:nvPr>
            <p:ph type="sldNum" sz="quarter" idx="4"/>
          </p:nvPr>
        </p:nvSpPr>
        <p:spPr>
          <a:xfrm>
            <a:off x="8724074" y="6492875"/>
            <a:ext cx="289477" cy="365125"/>
          </a:xfrm>
          <a:prstGeom prst="rect">
            <a:avLst/>
          </a:prstGeom>
        </p:spPr>
        <p:txBody>
          <a:bodyPr vert="horz" lIns="91440" tIns="45720" rIns="91440" bIns="45720" rtlCol="0" anchor="ctr"/>
          <a:lstStyle>
            <a:lvl1pPr algn="r">
              <a:defRPr sz="900">
                <a:solidFill>
                  <a:schemeClr val="bg1"/>
                </a:solidFill>
              </a:defRPr>
            </a:lvl1pPr>
          </a:lstStyle>
          <a:p>
            <a:pPr defTabSz="342900"/>
            <a:fld id="{01C45B1E-3714-436F-A336-26E1E49CD898}" type="slidenum">
              <a:rPr lang="en-US" smtClean="0">
                <a:solidFill>
                  <a:prstClr val="white"/>
                </a:solidFill>
              </a:rPr>
              <a:pPr defTabSz="342900"/>
              <a:t>‹#›</a:t>
            </a:fld>
            <a:endParaRPr lang="en-US">
              <a:solidFill>
                <a:prstClr val="white"/>
              </a:solidFill>
            </a:endParaRPr>
          </a:p>
        </p:txBody>
      </p:sp>
      <p:sp>
        <p:nvSpPr>
          <p:cNvPr id="13" name="Rectangle 12"/>
          <p:cNvSpPr/>
          <p:nvPr userDrawn="1"/>
        </p:nvSpPr>
        <p:spPr>
          <a:xfrm>
            <a:off x="159027" y="616918"/>
            <a:ext cx="155299" cy="21031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solidFill>
                <a:prstClr val="white"/>
              </a:solidFill>
            </a:endParaRPr>
          </a:p>
        </p:txBody>
      </p:sp>
    </p:spTree>
    <p:extLst>
      <p:ext uri="{BB962C8B-B14F-4D97-AF65-F5344CB8AC3E}">
        <p14:creationId xmlns:p14="http://schemas.microsoft.com/office/powerpoint/2010/main" val="33259365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Lst>
  <p:hf hdr="0" ftr="0" dt="0"/>
  <p:txStyles>
    <p:titleStyle>
      <a:lvl1pPr algn="l" defTabSz="685800" rtl="0" eaLnBrk="1" latinLnBrk="0" hangingPunct="1">
        <a:lnSpc>
          <a:spcPct val="90000"/>
        </a:lnSpc>
        <a:spcBef>
          <a:spcPct val="0"/>
        </a:spcBef>
        <a:buNone/>
        <a:defRPr sz="2700" kern="1200">
          <a:solidFill>
            <a:srgbClr val="0070C0"/>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8134672" cy="1442591"/>
          </a:xfrm>
        </p:spPr>
        <p:txBody>
          <a:bodyPr>
            <a:normAutofit fontScale="90000"/>
          </a:bodyPr>
          <a:lstStyle/>
          <a:p>
            <a:r>
              <a:rPr lang="en-IN" dirty="0"/>
              <a:t>Team 8</a:t>
            </a:r>
            <a:br>
              <a:rPr lang="en-IN" dirty="0"/>
            </a:br>
            <a:r>
              <a:rPr lang="en-IN" dirty="0"/>
              <a:t>AI BASED PNEUMONIA DETECTION </a:t>
            </a:r>
          </a:p>
        </p:txBody>
      </p:sp>
    </p:spTree>
    <p:extLst>
      <p:ext uri="{BB962C8B-B14F-4D97-AF65-F5344CB8AC3E}">
        <p14:creationId xmlns:p14="http://schemas.microsoft.com/office/powerpoint/2010/main" val="29059631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t>Problem Statement</a:t>
            </a:r>
          </a:p>
        </p:txBody>
      </p:sp>
      <p:sp>
        <p:nvSpPr>
          <p:cNvPr id="3" name="Content Placeholder 2"/>
          <p:cNvSpPr>
            <a:spLocks noGrp="1"/>
          </p:cNvSpPr>
          <p:nvPr>
            <p:ph idx="1"/>
          </p:nvPr>
        </p:nvSpPr>
        <p:spPr/>
        <p:txBody>
          <a:bodyPr/>
          <a:lstStyle/>
          <a:p>
            <a:pPr marL="0" indent="0">
              <a:buNone/>
            </a:pPr>
            <a:r>
              <a:rPr lang="en-US" dirty="0"/>
              <a:t>Healthcare providers, particularly in small to medium-sized hospitals and diagnostic centers in resource-scarce regions, face significant challenges in diagnosing pneumonia accurately and efficiently. This is primarily due to a high workload, limited availability of radiologists, and human fatigue, which can lead to delayed or inaccurate diagnoses. These factors create a bottleneck in diagnostic throughput, potentially impacting patient outcomes by delaying treatment.</a:t>
            </a:r>
          </a:p>
          <a:p>
            <a:pPr marL="0" indent="0">
              <a:buNone/>
            </a:pPr>
            <a:endParaRPr lang="en-US" dirty="0"/>
          </a:p>
        </p:txBody>
      </p:sp>
      <p:sp>
        <p:nvSpPr>
          <p:cNvPr id="4" name="Slide Number Placeholder 3"/>
          <p:cNvSpPr>
            <a:spLocks noGrp="1"/>
          </p:cNvSpPr>
          <p:nvPr>
            <p:ph type="sldNum" sz="quarter" idx="12"/>
          </p:nvPr>
        </p:nvSpPr>
        <p:spPr/>
        <p:txBody>
          <a:bodyPr/>
          <a:lstStyle/>
          <a:p>
            <a:fld id="{01C45B1E-3714-436F-A336-26E1E49CD898}" type="slidenum">
              <a:rPr lang="en-US" smtClean="0">
                <a:solidFill>
                  <a:prstClr val="black">
                    <a:tint val="75000"/>
                  </a:prstClr>
                </a:solidFill>
              </a:rPr>
              <a:pPr/>
              <a:t>2</a:t>
            </a:fld>
            <a:endParaRPr lang="en-US">
              <a:solidFill>
                <a:prstClr val="black">
                  <a:tint val="75000"/>
                </a:prstClr>
              </a:solidFill>
            </a:endParaRPr>
          </a:p>
        </p:txBody>
      </p:sp>
    </p:spTree>
    <p:extLst>
      <p:ext uri="{BB962C8B-B14F-4D97-AF65-F5344CB8AC3E}">
        <p14:creationId xmlns:p14="http://schemas.microsoft.com/office/powerpoint/2010/main" val="5634438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t>Product/ Solution - Innovation</a:t>
            </a:r>
          </a:p>
        </p:txBody>
      </p:sp>
      <p:sp>
        <p:nvSpPr>
          <p:cNvPr id="3" name="Content Placeholder 2"/>
          <p:cNvSpPr>
            <a:spLocks noGrp="1"/>
          </p:cNvSpPr>
          <p:nvPr>
            <p:ph idx="1"/>
          </p:nvPr>
        </p:nvSpPr>
        <p:spPr/>
        <p:txBody>
          <a:bodyPr vert="horz" lIns="91440" tIns="45720" rIns="91440" bIns="45720" rtlCol="0" anchor="t">
            <a:normAutofit/>
          </a:bodyPr>
          <a:lstStyle/>
          <a:p>
            <a:pPr marL="0" indent="0">
              <a:buNone/>
            </a:pPr>
            <a:r>
              <a:rPr lang="en-US" b="1" dirty="0">
                <a:solidFill>
                  <a:schemeClr val="tx1"/>
                </a:solidFill>
              </a:rPr>
              <a:t>Innovation and Problem Solving</a:t>
            </a:r>
          </a:p>
          <a:p>
            <a:pPr marL="0" indent="0">
              <a:buNone/>
            </a:pPr>
            <a:r>
              <a:rPr lang="en-US" sz="2000" dirty="0">
                <a:solidFill>
                  <a:schemeClr val="tx1"/>
                </a:solidFill>
              </a:rPr>
              <a:t>Our innovation is a sophisticated, AI-powered web platform designed to analyze lung scans and accurately detect pneumonia. It utilizes a highly accurate, pre-trained TensorFlow model integrated into a modern web application</a:t>
            </a:r>
            <a:r>
              <a:rPr lang="en-US" dirty="0">
                <a:solidFill>
                  <a:schemeClr val="tx1"/>
                </a:solidFill>
              </a:rPr>
              <a:t>.</a:t>
            </a:r>
          </a:p>
          <a:p>
            <a:pPr marL="0" indent="0">
              <a:buNone/>
            </a:pPr>
            <a:r>
              <a:rPr lang="en-US" sz="2000" dirty="0">
                <a:solidFill>
                  <a:schemeClr val="tx1"/>
                </a:solidFill>
              </a:rPr>
              <a:t>This platform directly addresses several critical problems in the healthcare sector:</a:t>
            </a:r>
          </a:p>
          <a:p>
            <a:r>
              <a:rPr lang="en-IN" sz="2000" dirty="0">
                <a:solidFill>
                  <a:schemeClr val="tx1"/>
                </a:solidFill>
              </a:rPr>
              <a:t>Reduces Diagnostic Errors &amp; Delays</a:t>
            </a:r>
          </a:p>
          <a:p>
            <a:r>
              <a:rPr lang="en-IN" sz="2000" dirty="0">
                <a:solidFill>
                  <a:schemeClr val="tx1"/>
                </a:solidFill>
              </a:rPr>
              <a:t>Alleviates Workload</a:t>
            </a:r>
          </a:p>
          <a:p>
            <a:r>
              <a:rPr lang="en-IN" sz="2000" dirty="0">
                <a:solidFill>
                  <a:schemeClr val="tx1"/>
                </a:solidFill>
              </a:rPr>
              <a:t>Improves Patient Outcomes</a:t>
            </a:r>
          </a:p>
          <a:p>
            <a:r>
              <a:rPr lang="en-IN" sz="2000" dirty="0">
                <a:solidFill>
                  <a:schemeClr val="tx1"/>
                </a:solidFill>
              </a:rPr>
              <a:t>Eases Integration</a:t>
            </a:r>
            <a:endParaRPr lang="en-US" sz="2000" dirty="0">
              <a:solidFill>
                <a:schemeClr val="tx1"/>
              </a:solidFill>
            </a:endParaRPr>
          </a:p>
          <a:p>
            <a:pPr marL="0" indent="0">
              <a:buNone/>
            </a:pPr>
            <a:endParaRPr lang="en-US" sz="2000" dirty="0"/>
          </a:p>
        </p:txBody>
      </p:sp>
    </p:spTree>
    <p:extLst>
      <p:ext uri="{BB962C8B-B14F-4D97-AF65-F5344CB8AC3E}">
        <p14:creationId xmlns:p14="http://schemas.microsoft.com/office/powerpoint/2010/main" val="25173010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250E82-DB3E-D335-B1D3-D23444CC27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C80FA0-3FCA-A72C-123F-6E830CB63A7A}"/>
              </a:ext>
            </a:extLst>
          </p:cNvPr>
          <p:cNvSpPr>
            <a:spLocks noGrp="1"/>
          </p:cNvSpPr>
          <p:nvPr>
            <p:ph type="title"/>
          </p:nvPr>
        </p:nvSpPr>
        <p:spPr/>
        <p:txBody>
          <a:bodyPr>
            <a:normAutofit/>
          </a:bodyPr>
          <a:lstStyle/>
          <a:p>
            <a:r>
              <a:rPr lang="en-IN"/>
              <a:t>Product/ Solution - Innovation</a:t>
            </a:r>
          </a:p>
        </p:txBody>
      </p:sp>
      <p:sp>
        <p:nvSpPr>
          <p:cNvPr id="3" name="Content Placeholder 2">
            <a:extLst>
              <a:ext uri="{FF2B5EF4-FFF2-40B4-BE49-F238E27FC236}">
                <a16:creationId xmlns:a16="http://schemas.microsoft.com/office/drawing/2014/main" id="{3B60A8B1-D676-748C-1F70-EC610B9630C1}"/>
              </a:ext>
            </a:extLst>
          </p:cNvPr>
          <p:cNvSpPr>
            <a:spLocks noGrp="1"/>
          </p:cNvSpPr>
          <p:nvPr>
            <p:ph idx="1"/>
          </p:nvPr>
        </p:nvSpPr>
        <p:spPr/>
        <p:txBody>
          <a:bodyPr vert="horz" lIns="91440" tIns="45720" rIns="91440" bIns="45720" rtlCol="0" anchor="t">
            <a:normAutofit/>
          </a:bodyPr>
          <a:lstStyle/>
          <a:p>
            <a:pPr marL="0" indent="0">
              <a:buNone/>
            </a:pPr>
            <a:r>
              <a:rPr lang="en-IN" sz="2400" b="1" dirty="0">
                <a:solidFill>
                  <a:schemeClr val="tx1"/>
                </a:solidFill>
              </a:rPr>
              <a:t>Type of Innovation</a:t>
            </a:r>
          </a:p>
          <a:p>
            <a:pPr marL="0" indent="0">
              <a:buNone/>
            </a:pPr>
            <a:endParaRPr lang="en-US" sz="2000" dirty="0">
              <a:solidFill>
                <a:schemeClr val="tx1"/>
              </a:solidFill>
            </a:endParaRPr>
          </a:p>
          <a:p>
            <a:pPr marL="0" indent="0">
              <a:buNone/>
            </a:pPr>
            <a:r>
              <a:rPr lang="en-US" sz="2000" dirty="0">
                <a:solidFill>
                  <a:schemeClr val="tx1"/>
                </a:solidFill>
              </a:rPr>
              <a:t>This innovation is best described as an </a:t>
            </a:r>
            <a:r>
              <a:rPr lang="en-US" sz="2000" b="1" dirty="0">
                <a:solidFill>
                  <a:schemeClr val="tx1"/>
                </a:solidFill>
              </a:rPr>
              <a:t>incremental improvement</a:t>
            </a:r>
            <a:r>
              <a:rPr lang="en-US" sz="2000" dirty="0">
                <a:solidFill>
                  <a:schemeClr val="tx1"/>
                </a:solidFill>
              </a:rPr>
              <a:t> to existing AI-driven diagnostic solutions.</a:t>
            </a:r>
          </a:p>
          <a:p>
            <a:pPr marL="0" indent="0">
              <a:buNone/>
            </a:pPr>
            <a:r>
              <a:rPr lang="en-US" sz="2000" dirty="0">
                <a:solidFill>
                  <a:schemeClr val="tx1"/>
                </a:solidFill>
              </a:rPr>
              <a:t>The document acknowledges that a key challenge for hospitals is the "Limited adoption of AI-driven tools and difficulty integrating them into existing hospital workflows". This implies that AI diagnostic tools already exist. Our platform improves upon these by focusing on accessibility, usability, and seamless integration, making a powerful technology practical for a wider range of healthcare providers</a:t>
            </a:r>
          </a:p>
          <a:p>
            <a:pPr marL="0" indent="0">
              <a:buNone/>
            </a:pPr>
            <a:endParaRPr lang="en-US" sz="2000" dirty="0">
              <a:solidFill>
                <a:schemeClr val="tx1"/>
              </a:solidFill>
            </a:endParaRPr>
          </a:p>
        </p:txBody>
      </p:sp>
    </p:spTree>
    <p:extLst>
      <p:ext uri="{BB962C8B-B14F-4D97-AF65-F5344CB8AC3E}">
        <p14:creationId xmlns:p14="http://schemas.microsoft.com/office/powerpoint/2010/main" val="28256441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DE8E7B-081A-1E0A-48D2-53CF8257D9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6AD271-CA36-5927-081A-2B414CA56D07}"/>
              </a:ext>
            </a:extLst>
          </p:cNvPr>
          <p:cNvSpPr>
            <a:spLocks noGrp="1"/>
          </p:cNvSpPr>
          <p:nvPr>
            <p:ph type="title"/>
          </p:nvPr>
        </p:nvSpPr>
        <p:spPr>
          <a:xfrm>
            <a:off x="628650" y="3"/>
            <a:ext cx="7886700" cy="566926"/>
          </a:xfrm>
        </p:spPr>
        <p:txBody>
          <a:bodyPr>
            <a:normAutofit/>
          </a:bodyPr>
          <a:lstStyle/>
          <a:p>
            <a:r>
              <a:rPr lang="en-IN" dirty="0"/>
              <a:t>Product/ Solution - Innovation</a:t>
            </a:r>
          </a:p>
        </p:txBody>
      </p:sp>
      <p:sp>
        <p:nvSpPr>
          <p:cNvPr id="3" name="Content Placeholder 2">
            <a:extLst>
              <a:ext uri="{FF2B5EF4-FFF2-40B4-BE49-F238E27FC236}">
                <a16:creationId xmlns:a16="http://schemas.microsoft.com/office/drawing/2014/main" id="{F860C180-C015-B299-84C2-600B11FC5FFF}"/>
              </a:ext>
            </a:extLst>
          </p:cNvPr>
          <p:cNvSpPr>
            <a:spLocks noGrp="1"/>
          </p:cNvSpPr>
          <p:nvPr>
            <p:ph idx="1"/>
          </p:nvPr>
        </p:nvSpPr>
        <p:spPr/>
        <p:txBody>
          <a:bodyPr vert="horz" lIns="91440" tIns="45720" rIns="91440" bIns="45720" rtlCol="0" anchor="t">
            <a:normAutofit/>
          </a:bodyPr>
          <a:lstStyle/>
          <a:p>
            <a:pPr marL="0" indent="0">
              <a:buNone/>
            </a:pPr>
            <a:r>
              <a:rPr lang="en-US" sz="1800" dirty="0">
                <a:solidFill>
                  <a:schemeClr val="tx1"/>
                </a:solidFill>
              </a:rPr>
              <a:t>Our platform is unique when compared to other solutions in the following ways:</a:t>
            </a:r>
          </a:p>
          <a:p>
            <a:r>
              <a:rPr lang="en-US" sz="1800" b="1" dirty="0">
                <a:solidFill>
                  <a:schemeClr val="tx1"/>
                </a:solidFill>
              </a:rPr>
              <a:t>Focus on Seamless Integration:</a:t>
            </a:r>
            <a:r>
              <a:rPr lang="en-US" sz="1800" dirty="0">
                <a:solidFill>
                  <a:schemeClr val="tx1"/>
                </a:solidFill>
              </a:rPr>
              <a:t> We prioritize easy integration into existing hospital IT systems. Our solution is built with a modern tech stack (React, </a:t>
            </a:r>
            <a:r>
              <a:rPr lang="en-US" sz="1800" dirty="0" err="1">
                <a:solidFill>
                  <a:schemeClr val="tx1"/>
                </a:solidFill>
              </a:rPr>
              <a:t>FastAPI</a:t>
            </a:r>
            <a:r>
              <a:rPr lang="en-US" sz="1800" dirty="0">
                <a:solidFill>
                  <a:schemeClr val="tx1"/>
                </a:solidFill>
              </a:rPr>
              <a:t>) and offers an API, PostgreSQL database access, and JWT authentication for secure, straightforward implementation.</a:t>
            </a:r>
          </a:p>
          <a:p>
            <a:r>
              <a:rPr lang="en-US" sz="1800" b="1" dirty="0">
                <a:solidFill>
                  <a:schemeClr val="tx1"/>
                </a:solidFill>
              </a:rPr>
              <a:t>Target Market Specialization:</a:t>
            </a:r>
            <a:r>
              <a:rPr lang="en-US" sz="1800" dirty="0">
                <a:solidFill>
                  <a:schemeClr val="tx1"/>
                </a:solidFill>
              </a:rPr>
              <a:t> Our primary focus is on </a:t>
            </a:r>
            <a:r>
              <a:rPr lang="en-US" sz="1800" b="1" dirty="0">
                <a:solidFill>
                  <a:schemeClr val="tx1"/>
                </a:solidFill>
              </a:rPr>
              <a:t>small to medium-sized hospitals, diagnostic centers, and research labs</a:t>
            </a:r>
            <a:r>
              <a:rPr lang="en-US" sz="1800" dirty="0">
                <a:solidFill>
                  <a:schemeClr val="tx1"/>
                </a:solidFill>
              </a:rPr>
              <a:t>. We are specifically tailored to serve developing regions where there is a scarcity of radiologists, a market often overlooked by larger enterprise solutions.</a:t>
            </a:r>
          </a:p>
          <a:p>
            <a:r>
              <a:rPr lang="en-US" sz="1800" b="1" dirty="0">
                <a:solidFill>
                  <a:schemeClr val="tx1"/>
                </a:solidFill>
              </a:rPr>
              <a:t>Comprehensive, User-Friendly Platform:</a:t>
            </a:r>
            <a:r>
              <a:rPr lang="en-US" sz="1800" dirty="0">
                <a:solidFill>
                  <a:schemeClr val="tx1"/>
                </a:solidFill>
              </a:rPr>
              <a:t> We offer a complete, end-to-end solution. It's not just an AI model; it's a full-stack application with a user-friendly frontend and a robust backend that includes features like automated email and PDF reporting. This makes the tool immediately usable without requiring extensive in-house development.</a:t>
            </a:r>
          </a:p>
        </p:txBody>
      </p:sp>
      <p:sp>
        <p:nvSpPr>
          <p:cNvPr id="4" name="TextBox 3">
            <a:extLst>
              <a:ext uri="{FF2B5EF4-FFF2-40B4-BE49-F238E27FC236}">
                <a16:creationId xmlns:a16="http://schemas.microsoft.com/office/drawing/2014/main" id="{F2239482-FFDA-EE90-CB40-936354578458}"/>
              </a:ext>
            </a:extLst>
          </p:cNvPr>
          <p:cNvSpPr txBox="1"/>
          <p:nvPr/>
        </p:nvSpPr>
        <p:spPr>
          <a:xfrm>
            <a:off x="622767" y="666842"/>
            <a:ext cx="4873752" cy="830997"/>
          </a:xfrm>
          <a:prstGeom prst="rect">
            <a:avLst/>
          </a:prstGeom>
          <a:noFill/>
        </p:spPr>
        <p:txBody>
          <a:bodyPr wrap="square" rtlCol="0">
            <a:spAutoFit/>
          </a:bodyPr>
          <a:lstStyle/>
          <a:p>
            <a:r>
              <a:rPr lang="en-US" sz="2400" b="1" dirty="0"/>
              <a:t>Unique Differentiators</a:t>
            </a:r>
          </a:p>
          <a:p>
            <a:endParaRPr lang="en-IN" sz="2400" dirty="0"/>
          </a:p>
        </p:txBody>
      </p:sp>
    </p:spTree>
    <p:extLst>
      <p:ext uri="{BB962C8B-B14F-4D97-AF65-F5344CB8AC3E}">
        <p14:creationId xmlns:p14="http://schemas.microsoft.com/office/powerpoint/2010/main" val="544692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10F986-2152-7F81-F7A1-04FA092D17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14FF74-F0C3-CD0D-F719-180415DD8E04}"/>
              </a:ext>
            </a:extLst>
          </p:cNvPr>
          <p:cNvSpPr>
            <a:spLocks noGrp="1"/>
          </p:cNvSpPr>
          <p:nvPr>
            <p:ph type="title"/>
          </p:nvPr>
        </p:nvSpPr>
        <p:spPr/>
        <p:txBody>
          <a:bodyPr>
            <a:normAutofit/>
          </a:bodyPr>
          <a:lstStyle/>
          <a:p>
            <a:r>
              <a:rPr lang="en-IN"/>
              <a:t>Product/ Solution - Readiness Level</a:t>
            </a:r>
          </a:p>
        </p:txBody>
      </p:sp>
      <p:sp>
        <p:nvSpPr>
          <p:cNvPr id="3" name="Content Placeholder 2">
            <a:extLst>
              <a:ext uri="{FF2B5EF4-FFF2-40B4-BE49-F238E27FC236}">
                <a16:creationId xmlns:a16="http://schemas.microsoft.com/office/drawing/2014/main" id="{0E161FCB-50DA-7C2C-36E8-D43220FB7906}"/>
              </a:ext>
            </a:extLst>
          </p:cNvPr>
          <p:cNvSpPr>
            <a:spLocks noGrp="1"/>
          </p:cNvSpPr>
          <p:nvPr>
            <p:ph idx="1"/>
          </p:nvPr>
        </p:nvSpPr>
        <p:spPr>
          <a:xfrm>
            <a:off x="649783" y="1268760"/>
            <a:ext cx="7886700" cy="4351338"/>
          </a:xfrm>
        </p:spPr>
        <p:txBody>
          <a:bodyPr vert="horz" lIns="91440" tIns="45720" rIns="91440" bIns="45720" rtlCol="0" anchor="t">
            <a:normAutofit/>
          </a:bodyPr>
          <a:lstStyle/>
          <a:p>
            <a:pPr marL="0" indent="0">
              <a:buNone/>
            </a:pPr>
            <a:endParaRPr lang="en-US" dirty="0"/>
          </a:p>
        </p:txBody>
      </p:sp>
      <p:pic>
        <p:nvPicPr>
          <p:cNvPr id="5" name="Picture 4">
            <a:extLst>
              <a:ext uri="{FF2B5EF4-FFF2-40B4-BE49-F238E27FC236}">
                <a16:creationId xmlns:a16="http://schemas.microsoft.com/office/drawing/2014/main" id="{48012EC1-3FB6-EBF6-C875-E0F78774B966}"/>
              </a:ext>
            </a:extLst>
          </p:cNvPr>
          <p:cNvPicPr>
            <a:picLocks noChangeAspect="1"/>
          </p:cNvPicPr>
          <p:nvPr/>
        </p:nvPicPr>
        <p:blipFill>
          <a:blip r:embed="rId2"/>
          <a:stretch>
            <a:fillRect/>
          </a:stretch>
        </p:blipFill>
        <p:spPr>
          <a:xfrm>
            <a:off x="82296" y="0"/>
            <a:ext cx="8924544" cy="6437376"/>
          </a:xfrm>
          <a:prstGeom prst="rect">
            <a:avLst/>
          </a:prstGeom>
        </p:spPr>
      </p:pic>
    </p:spTree>
    <p:extLst>
      <p:ext uri="{BB962C8B-B14F-4D97-AF65-F5344CB8AC3E}">
        <p14:creationId xmlns:p14="http://schemas.microsoft.com/office/powerpoint/2010/main" val="42870740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ADDEF8-FEDB-C853-35DC-29729DE0E2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4767D8-F9DA-FBF4-63BB-0BD03B1FF301}"/>
              </a:ext>
            </a:extLst>
          </p:cNvPr>
          <p:cNvSpPr>
            <a:spLocks noGrp="1"/>
          </p:cNvSpPr>
          <p:nvPr>
            <p:ph type="title"/>
          </p:nvPr>
        </p:nvSpPr>
        <p:spPr/>
        <p:txBody>
          <a:bodyPr>
            <a:normAutofit/>
          </a:bodyPr>
          <a:lstStyle/>
          <a:p>
            <a:r>
              <a:rPr lang="en-IN" dirty="0"/>
              <a:t>Product Images</a:t>
            </a:r>
          </a:p>
        </p:txBody>
      </p:sp>
      <p:sp>
        <p:nvSpPr>
          <p:cNvPr id="3" name="Content Placeholder 2">
            <a:extLst>
              <a:ext uri="{FF2B5EF4-FFF2-40B4-BE49-F238E27FC236}">
                <a16:creationId xmlns:a16="http://schemas.microsoft.com/office/drawing/2014/main" id="{6006D240-DB9D-520D-7064-B0A406A4B682}"/>
              </a:ext>
            </a:extLst>
          </p:cNvPr>
          <p:cNvSpPr>
            <a:spLocks noGrp="1"/>
          </p:cNvSpPr>
          <p:nvPr>
            <p:ph idx="1"/>
          </p:nvPr>
        </p:nvSpPr>
        <p:spPr>
          <a:xfrm>
            <a:off x="649783" y="1268760"/>
            <a:ext cx="7886700" cy="4351338"/>
          </a:xfrm>
        </p:spPr>
        <p:txBody>
          <a:bodyPr vert="horz" lIns="91440" tIns="45720" rIns="91440" bIns="45720" rtlCol="0" anchor="t">
            <a:normAutofit/>
          </a:bodyPr>
          <a:lstStyle/>
          <a:p>
            <a:pPr marL="0" indent="0">
              <a:buNone/>
            </a:pPr>
            <a:r>
              <a:rPr lang="en-US" dirty="0"/>
              <a:t>PRODUCT IMAGES</a:t>
            </a:r>
          </a:p>
          <a:p>
            <a:pPr marL="0" indent="0">
              <a:buNone/>
            </a:pPr>
            <a:endParaRPr lang="en-US" dirty="0"/>
          </a:p>
          <a:p>
            <a:pPr marL="0" indent="0">
              <a:buNone/>
            </a:pPr>
            <a:endParaRPr lang="en-US" dirty="0"/>
          </a:p>
          <a:p>
            <a:pPr marL="0" indent="0">
              <a:buNone/>
            </a:pPr>
            <a:endParaRPr lang="en-US" dirty="0"/>
          </a:p>
        </p:txBody>
      </p:sp>
      <p:pic>
        <p:nvPicPr>
          <p:cNvPr id="5" name="Picture 4">
            <a:extLst>
              <a:ext uri="{FF2B5EF4-FFF2-40B4-BE49-F238E27FC236}">
                <a16:creationId xmlns:a16="http://schemas.microsoft.com/office/drawing/2014/main" id="{36CC7579-7ED6-D9ED-851A-AC9A857942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260872"/>
            <a:ext cx="9144000" cy="4336256"/>
          </a:xfrm>
          <a:prstGeom prst="rect">
            <a:avLst/>
          </a:prstGeom>
        </p:spPr>
      </p:pic>
    </p:spTree>
    <p:extLst>
      <p:ext uri="{BB962C8B-B14F-4D97-AF65-F5344CB8AC3E}">
        <p14:creationId xmlns:p14="http://schemas.microsoft.com/office/powerpoint/2010/main" val="22224103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26017E-F692-473B-4BC9-E7F3D3A78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E0FD8D-6FA3-888E-561F-E3BF231E91C1}"/>
              </a:ext>
            </a:extLst>
          </p:cNvPr>
          <p:cNvSpPr>
            <a:spLocks noGrp="1"/>
          </p:cNvSpPr>
          <p:nvPr>
            <p:ph type="title"/>
          </p:nvPr>
        </p:nvSpPr>
        <p:spPr/>
        <p:txBody>
          <a:bodyPr>
            <a:normAutofit/>
          </a:bodyPr>
          <a:lstStyle/>
          <a:p>
            <a:r>
              <a:rPr lang="en-IN"/>
              <a:t>Product/ Solution - Readiness Level</a:t>
            </a:r>
          </a:p>
        </p:txBody>
      </p:sp>
      <p:sp>
        <p:nvSpPr>
          <p:cNvPr id="3" name="Content Placeholder 2">
            <a:extLst>
              <a:ext uri="{FF2B5EF4-FFF2-40B4-BE49-F238E27FC236}">
                <a16:creationId xmlns:a16="http://schemas.microsoft.com/office/drawing/2014/main" id="{97AB94DC-568F-71FD-4174-D9A622D1C677}"/>
              </a:ext>
            </a:extLst>
          </p:cNvPr>
          <p:cNvSpPr>
            <a:spLocks noGrp="1"/>
          </p:cNvSpPr>
          <p:nvPr>
            <p:ph idx="1"/>
          </p:nvPr>
        </p:nvSpPr>
        <p:spPr>
          <a:xfrm>
            <a:off x="649783" y="1268760"/>
            <a:ext cx="7886700" cy="4351338"/>
          </a:xfrm>
        </p:spPr>
        <p:txBody>
          <a:bodyPr vert="horz" lIns="91440" tIns="45720" rIns="91440" bIns="45720" rtlCol="0" anchor="t">
            <a:normAutofit/>
          </a:bodyPr>
          <a:lstStyle/>
          <a:p>
            <a:pPr marL="0" indent="0">
              <a:buNone/>
            </a:pPr>
            <a:r>
              <a:rPr lang="en-US" dirty="0"/>
              <a:t>PRODUCT IMAGES</a:t>
            </a:r>
          </a:p>
          <a:p>
            <a:pPr marL="0" indent="0">
              <a:buNone/>
            </a:pPr>
            <a:endParaRPr lang="en-US" dirty="0"/>
          </a:p>
          <a:p>
            <a:pPr marL="0" indent="0">
              <a:buNone/>
            </a:pPr>
            <a:endParaRPr lang="en-US" dirty="0"/>
          </a:p>
          <a:p>
            <a:pPr marL="0" indent="0">
              <a:buNone/>
            </a:pPr>
            <a:endParaRPr lang="en-US" dirty="0"/>
          </a:p>
        </p:txBody>
      </p:sp>
      <p:pic>
        <p:nvPicPr>
          <p:cNvPr id="9" name="Picture 8">
            <a:extLst>
              <a:ext uri="{FF2B5EF4-FFF2-40B4-BE49-F238E27FC236}">
                <a16:creationId xmlns:a16="http://schemas.microsoft.com/office/drawing/2014/main" id="{08AD4A7C-3767-D476-8362-D59390F525A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008" y="1773935"/>
            <a:ext cx="9079992" cy="4453129"/>
          </a:xfrm>
          <a:prstGeom prst="rect">
            <a:avLst/>
          </a:prstGeom>
        </p:spPr>
      </p:pic>
    </p:spTree>
    <p:extLst>
      <p:ext uri="{BB962C8B-B14F-4D97-AF65-F5344CB8AC3E}">
        <p14:creationId xmlns:p14="http://schemas.microsoft.com/office/powerpoint/2010/main" val="4119476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Team Size, Background, Strength /Capability and Resources</a:t>
            </a:r>
          </a:p>
        </p:txBody>
      </p:sp>
      <p:sp>
        <p:nvSpPr>
          <p:cNvPr id="3" name="Content Placeholder 2"/>
          <p:cNvSpPr>
            <a:spLocks noGrp="1"/>
          </p:cNvSpPr>
          <p:nvPr>
            <p:ph idx="1"/>
          </p:nvPr>
        </p:nvSpPr>
        <p:spPr/>
        <p:txBody>
          <a:bodyPr/>
          <a:lstStyle/>
          <a:p>
            <a:pPr marL="0" indent="0">
              <a:buNone/>
            </a:pPr>
            <a:r>
              <a:rPr lang="en-US" dirty="0">
                <a:solidFill>
                  <a:schemeClr val="tx1"/>
                </a:solidFill>
              </a:rPr>
              <a:t>Background: Computer Science / AI &amp; Data Science students with skills in full-stack and machine learning development Strength </a:t>
            </a:r>
          </a:p>
          <a:p>
            <a:pPr marL="0" indent="0">
              <a:buNone/>
            </a:pPr>
            <a:endParaRPr lang="en-US" dirty="0">
              <a:solidFill>
                <a:schemeClr val="tx1"/>
              </a:solidFill>
            </a:endParaRPr>
          </a:p>
          <a:p>
            <a:pPr marL="0" indent="0">
              <a:buNone/>
            </a:pPr>
            <a:r>
              <a:rPr lang="en-US" dirty="0">
                <a:solidFill>
                  <a:schemeClr val="tx1"/>
                </a:solidFill>
              </a:rPr>
              <a:t>Capability: Expertise in React, </a:t>
            </a:r>
            <a:r>
              <a:rPr lang="en-US" dirty="0" err="1">
                <a:solidFill>
                  <a:schemeClr val="tx1"/>
                </a:solidFill>
              </a:rPr>
              <a:t>FastAPI</a:t>
            </a:r>
            <a:r>
              <a:rPr lang="en-US" dirty="0">
                <a:solidFill>
                  <a:schemeClr val="tx1"/>
                </a:solidFill>
              </a:rPr>
              <a:t>, and AI model integration Strong collaboration and problem-solving skills Focused on building a reliable and aesthetic medical AI solution</a:t>
            </a:r>
          </a:p>
          <a:p>
            <a:pPr marL="0" indent="0">
              <a:buNone/>
            </a:pPr>
            <a:endParaRPr lang="en-US" dirty="0">
              <a:solidFill>
                <a:schemeClr val="tx1"/>
              </a:solidFill>
            </a:endParaRPr>
          </a:p>
          <a:p>
            <a:pPr marL="0" indent="0">
              <a:buNone/>
            </a:pPr>
            <a:r>
              <a:rPr lang="en-US" dirty="0">
                <a:solidFill>
                  <a:schemeClr val="tx1"/>
                </a:solidFill>
              </a:rPr>
              <a:t>Resources: Kaggle dataset (Chest X-Ray Pneumonia)</a:t>
            </a:r>
          </a:p>
          <a:p>
            <a:pPr marL="0" indent="0">
              <a:buNone/>
            </a:pPr>
            <a:endParaRPr lang="en-US" dirty="0">
              <a:solidFill>
                <a:schemeClr val="tx1"/>
              </a:solidFill>
            </a:endParaRPr>
          </a:p>
          <a:p>
            <a:pPr marL="0" indent="0">
              <a:buNone/>
            </a:pPr>
            <a:endParaRPr lang="en-US" dirty="0">
              <a:solidFill>
                <a:schemeClr val="tx1"/>
              </a:solidFill>
            </a:endParaRPr>
          </a:p>
          <a:p>
            <a:pPr marL="0" indent="0">
              <a:buNone/>
            </a:pPr>
            <a:r>
              <a:rPr lang="en-US" dirty="0">
                <a:solidFill>
                  <a:schemeClr val="tx1"/>
                </a:solidFill>
              </a:rPr>
              <a:t>Development tools: VS Code, GitHub, Python, React, </a:t>
            </a:r>
            <a:r>
              <a:rPr lang="en-US" dirty="0" err="1">
                <a:solidFill>
                  <a:schemeClr val="tx1"/>
                </a:solidFill>
              </a:rPr>
              <a:t>PostgreSQLCloud</a:t>
            </a:r>
            <a:r>
              <a:rPr lang="en-US" dirty="0">
                <a:solidFill>
                  <a:schemeClr val="tx1"/>
                </a:solidFill>
              </a:rPr>
              <a:t> platforms: </a:t>
            </a:r>
            <a:r>
              <a:rPr lang="en-US" dirty="0" err="1">
                <a:solidFill>
                  <a:schemeClr val="tx1"/>
                </a:solidFill>
              </a:rPr>
              <a:t>Supabase</a:t>
            </a:r>
            <a:r>
              <a:rPr lang="en-US" dirty="0">
                <a:solidFill>
                  <a:schemeClr val="tx1"/>
                </a:solidFill>
              </a:rPr>
              <a:t>  / AWS for deployment</a:t>
            </a:r>
          </a:p>
        </p:txBody>
      </p:sp>
    </p:spTree>
    <p:extLst>
      <p:ext uri="{BB962C8B-B14F-4D97-AF65-F5344CB8AC3E}">
        <p14:creationId xmlns:p14="http://schemas.microsoft.com/office/powerpoint/2010/main" val="18326481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a:t>Market Landscape - Market Potential, Competitors</a:t>
            </a:r>
          </a:p>
        </p:txBody>
      </p:sp>
      <p:sp>
        <p:nvSpPr>
          <p:cNvPr id="3" name="Content Placeholder 2"/>
          <p:cNvSpPr>
            <a:spLocks noGrp="1"/>
          </p:cNvSpPr>
          <p:nvPr>
            <p:ph idx="1"/>
          </p:nvPr>
        </p:nvSpPr>
        <p:spPr/>
        <p:txBody>
          <a:bodyPr vert="horz" lIns="91440" tIns="45720" rIns="91440" bIns="45720" rtlCol="0" anchor="t">
            <a:normAutofit/>
          </a:bodyPr>
          <a:lstStyle/>
          <a:p>
            <a:endParaRPr lang="en-US" dirty="0"/>
          </a:p>
          <a:p>
            <a:endParaRPr lang="en-US" dirty="0"/>
          </a:p>
        </p:txBody>
      </p:sp>
      <p:sp>
        <p:nvSpPr>
          <p:cNvPr id="6" name="TextBox 5">
            <a:extLst>
              <a:ext uri="{FF2B5EF4-FFF2-40B4-BE49-F238E27FC236}">
                <a16:creationId xmlns:a16="http://schemas.microsoft.com/office/drawing/2014/main" id="{A311D659-1D2C-6804-9C60-CD180C8C3380}"/>
              </a:ext>
            </a:extLst>
          </p:cNvPr>
          <p:cNvSpPr txBox="1"/>
          <p:nvPr/>
        </p:nvSpPr>
        <p:spPr>
          <a:xfrm>
            <a:off x="622766" y="988213"/>
            <a:ext cx="8246913" cy="3693319"/>
          </a:xfrm>
          <a:prstGeom prst="rect">
            <a:avLst/>
          </a:prstGeom>
          <a:noFill/>
        </p:spPr>
        <p:txBody>
          <a:bodyPr wrap="square">
            <a:spAutoFit/>
          </a:bodyPr>
          <a:lstStyle/>
          <a:p>
            <a:pPr>
              <a:buNone/>
            </a:pPr>
            <a:r>
              <a:rPr lang="en-US" b="1" dirty="0"/>
              <a:t>Market Size &amp; Potential</a:t>
            </a:r>
          </a:p>
          <a:p>
            <a:pPr>
              <a:buFont typeface="Arial" panose="020B0604020202020204" pitchFamily="34" charset="0"/>
              <a:buChar char="•"/>
            </a:pPr>
            <a:r>
              <a:rPr lang="en-US" b="1" dirty="0"/>
              <a:t>Annual Spend Per Customer:</a:t>
            </a:r>
            <a:r>
              <a:rPr lang="en-US" dirty="0"/>
              <a:t> Our target customers have an approximate annual budget of </a:t>
            </a:r>
            <a:r>
              <a:rPr lang="en-US" b="1" dirty="0"/>
              <a:t>$5,000 – $50,000 USD</a:t>
            </a:r>
            <a:r>
              <a:rPr lang="en-US" dirty="0"/>
              <a:t> , depending on the size of the hospital and the scale of the deployment</a:t>
            </a:r>
          </a:p>
          <a:p>
            <a:pPr>
              <a:buFont typeface="Arial" panose="020B0604020202020204" pitchFamily="34" charset="0"/>
              <a:buChar char="•"/>
            </a:pPr>
            <a:r>
              <a:rPr lang="en-US" b="1" dirty="0"/>
              <a:t>Market Potential:</a:t>
            </a:r>
            <a:r>
              <a:rPr lang="en-US" dirty="0"/>
              <a:t> The market consists of </a:t>
            </a:r>
            <a:r>
              <a:rPr lang="en-US" b="1" dirty="0"/>
              <a:t>Small to Medium Hospitals, Diagnostic </a:t>
            </a:r>
            <a:r>
              <a:rPr lang="en-US" b="1" dirty="0" err="1"/>
              <a:t>Centres</a:t>
            </a:r>
            <a:r>
              <a:rPr lang="en-US" b="1" dirty="0"/>
              <a:t>, and Research Labs</a:t>
            </a:r>
            <a:r>
              <a:rPr lang="en-US" dirty="0"/>
              <a:t> globally. Our primary focus is on </a:t>
            </a:r>
            <a:r>
              <a:rPr lang="en-US" b="1" dirty="0"/>
              <a:t>developing regions</a:t>
            </a:r>
            <a:r>
              <a:rPr lang="en-US" dirty="0"/>
              <a:t> where there is a scarcity of radiologists</a:t>
            </a:r>
          </a:p>
          <a:p>
            <a:endParaRPr lang="en-US" dirty="0"/>
          </a:p>
          <a:p>
            <a:r>
              <a:rPr lang="en-US" b="1" dirty="0"/>
              <a:t>Competitive Landscape</a:t>
            </a:r>
          </a:p>
          <a:p>
            <a:r>
              <a:rPr lang="en-US" b="1" dirty="0"/>
              <a:t>Competitors:</a:t>
            </a:r>
            <a:r>
              <a:rPr lang="en-US" dirty="0"/>
              <a:t> The market includes existing providers of AI-driven diagnostic tools. A key challenge we address is the difficulty hospitals face when integrating these existing solutions into their workflows</a:t>
            </a:r>
          </a:p>
          <a:p>
            <a:endParaRPr lang="en-US" dirty="0"/>
          </a:p>
        </p:txBody>
      </p:sp>
    </p:spTree>
    <p:extLst>
      <p:ext uri="{BB962C8B-B14F-4D97-AF65-F5344CB8AC3E}">
        <p14:creationId xmlns:p14="http://schemas.microsoft.com/office/powerpoint/2010/main" val="18326481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C1546-1652-CD0A-11B1-3E5D954E6C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2C175E-8201-AB0D-E487-C9D3046BD654}"/>
              </a:ext>
            </a:extLst>
          </p:cNvPr>
          <p:cNvSpPr>
            <a:spLocks noGrp="1"/>
          </p:cNvSpPr>
          <p:nvPr>
            <p:ph type="title"/>
          </p:nvPr>
        </p:nvSpPr>
        <p:spPr/>
        <p:txBody>
          <a:bodyPr>
            <a:normAutofit/>
          </a:bodyPr>
          <a:lstStyle/>
          <a:p>
            <a:r>
              <a:rPr lang="en-IN"/>
              <a:t>Market Landscape - Market Potential, Competitors</a:t>
            </a:r>
          </a:p>
        </p:txBody>
      </p:sp>
      <p:sp>
        <p:nvSpPr>
          <p:cNvPr id="3" name="Content Placeholder 2">
            <a:extLst>
              <a:ext uri="{FF2B5EF4-FFF2-40B4-BE49-F238E27FC236}">
                <a16:creationId xmlns:a16="http://schemas.microsoft.com/office/drawing/2014/main" id="{46790741-3194-C942-3680-3192B3D223E5}"/>
              </a:ext>
            </a:extLst>
          </p:cNvPr>
          <p:cNvSpPr>
            <a:spLocks noGrp="1"/>
          </p:cNvSpPr>
          <p:nvPr>
            <p:ph idx="1"/>
          </p:nvPr>
        </p:nvSpPr>
        <p:spPr/>
        <p:txBody>
          <a:bodyPr vert="horz" lIns="91440" tIns="45720" rIns="91440" bIns="45720" rtlCol="0" anchor="t">
            <a:normAutofit/>
          </a:bodyPr>
          <a:lstStyle/>
          <a:p>
            <a:endParaRPr lang="en-US" dirty="0"/>
          </a:p>
          <a:p>
            <a:endParaRPr lang="en-US" dirty="0"/>
          </a:p>
        </p:txBody>
      </p:sp>
      <p:sp>
        <p:nvSpPr>
          <p:cNvPr id="5" name="TextBox 4">
            <a:extLst>
              <a:ext uri="{FF2B5EF4-FFF2-40B4-BE49-F238E27FC236}">
                <a16:creationId xmlns:a16="http://schemas.microsoft.com/office/drawing/2014/main" id="{A27FDBD2-3CBD-998D-4E92-C52220AC08D0}"/>
              </a:ext>
            </a:extLst>
          </p:cNvPr>
          <p:cNvSpPr txBox="1"/>
          <p:nvPr/>
        </p:nvSpPr>
        <p:spPr>
          <a:xfrm>
            <a:off x="622767" y="934688"/>
            <a:ext cx="7898466" cy="2862322"/>
          </a:xfrm>
          <a:prstGeom prst="rect">
            <a:avLst/>
          </a:prstGeom>
          <a:noFill/>
        </p:spPr>
        <p:txBody>
          <a:bodyPr wrap="square">
            <a:spAutoFit/>
          </a:bodyPr>
          <a:lstStyle/>
          <a:p>
            <a:pPr>
              <a:buNone/>
            </a:pPr>
            <a:r>
              <a:rPr lang="en-US" b="1" dirty="0"/>
              <a:t>Our Uniqueness:</a:t>
            </a:r>
            <a:endParaRPr lang="en-US" dirty="0"/>
          </a:p>
          <a:p>
            <a:pPr>
              <a:buFont typeface="Arial" panose="020B0604020202020204" pitchFamily="34" charset="0"/>
              <a:buChar char="•"/>
            </a:pPr>
            <a:r>
              <a:rPr lang="en-US" b="1" dirty="0"/>
              <a:t>Seamless Integration:</a:t>
            </a:r>
            <a:r>
              <a:rPr lang="en-US" dirty="0"/>
              <a:t> We offer an API, direct PostgreSQL database access, and JWT authentication for easy integration into existing hospital systems</a:t>
            </a:r>
          </a:p>
          <a:p>
            <a:pPr>
              <a:buFont typeface="Arial" panose="020B0604020202020204" pitchFamily="34" charset="0"/>
              <a:buChar char="•"/>
            </a:pPr>
            <a:r>
              <a:rPr lang="en-US" b="1" dirty="0"/>
              <a:t>Niche Focus:</a:t>
            </a:r>
            <a:r>
              <a:rPr lang="en-US" dirty="0"/>
              <a:t> We are specifically tailored for small to medium-sized institutions in resource-limited regions, a market often overlooked by larger vendors</a:t>
            </a:r>
          </a:p>
          <a:p>
            <a:pPr>
              <a:buFont typeface="Arial" panose="020B0604020202020204" pitchFamily="34" charset="0"/>
              <a:buChar char="•"/>
            </a:pPr>
            <a:r>
              <a:rPr lang="en-US" b="1" dirty="0"/>
              <a:t>Accessible Pricing:</a:t>
            </a:r>
            <a:r>
              <a:rPr lang="en-US" dirty="0"/>
              <a:t> Our flexible pricing model makes advanced AI technology financially accessible to smaller organizations</a:t>
            </a:r>
          </a:p>
          <a:p>
            <a:pPr>
              <a:buFont typeface="Arial" panose="020B0604020202020204" pitchFamily="34" charset="0"/>
              <a:buChar char="•"/>
            </a:pPr>
            <a:r>
              <a:rPr lang="en-US" b="1" dirty="0"/>
              <a:t>Complete Solution:</a:t>
            </a:r>
            <a:r>
              <a:rPr lang="en-US" dirty="0"/>
              <a:t> We provide a full-stack, user-friendly platform with a React frontend and automated email/PDF reporting, making it immediately usable without extensive development</a:t>
            </a:r>
          </a:p>
        </p:txBody>
      </p:sp>
    </p:spTree>
    <p:extLst>
      <p:ext uri="{BB962C8B-B14F-4D97-AF65-F5344CB8AC3E}">
        <p14:creationId xmlns:p14="http://schemas.microsoft.com/office/powerpoint/2010/main" val="2688401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Business Model &amp; Strategy</a:t>
            </a:r>
          </a:p>
        </p:txBody>
      </p:sp>
      <p:sp>
        <p:nvSpPr>
          <p:cNvPr id="3" name="Content Placeholder 2"/>
          <p:cNvSpPr>
            <a:spLocks noGrp="1"/>
          </p:cNvSpPr>
          <p:nvPr>
            <p:ph idx="1"/>
          </p:nvPr>
        </p:nvSpPr>
        <p:spPr>
          <a:xfrm>
            <a:off x="622767" y="1175200"/>
            <a:ext cx="7886700" cy="4832407"/>
          </a:xfrm>
        </p:spPr>
        <p:txBody>
          <a:bodyPr vert="horz" lIns="91440" tIns="45720" rIns="91440" bIns="45720" rtlCol="0" anchor="t">
            <a:normAutofit lnSpcReduction="10000"/>
          </a:bodyPr>
          <a:lstStyle/>
          <a:p>
            <a:pPr marL="0" indent="0">
              <a:buNone/>
            </a:pPr>
            <a:r>
              <a:rPr lang="en-US" b="1" dirty="0">
                <a:solidFill>
                  <a:schemeClr val="tx1"/>
                </a:solidFill>
              </a:rPr>
              <a:t>Revenue Model</a:t>
            </a:r>
          </a:p>
          <a:p>
            <a:r>
              <a:rPr lang="en-US" b="1" dirty="0">
                <a:solidFill>
                  <a:schemeClr val="tx1"/>
                </a:solidFill>
              </a:rPr>
              <a:t>Model:</a:t>
            </a:r>
            <a:r>
              <a:rPr lang="en-US" dirty="0">
                <a:solidFill>
                  <a:schemeClr val="tx1"/>
                </a:solidFill>
              </a:rPr>
              <a:t> Our revenue model is a B2B annual subscription.</a:t>
            </a:r>
          </a:p>
          <a:p>
            <a:r>
              <a:rPr lang="en-US" b="1" dirty="0">
                <a:solidFill>
                  <a:schemeClr val="tx1"/>
                </a:solidFill>
              </a:rPr>
              <a:t>Pricing:</a:t>
            </a:r>
            <a:r>
              <a:rPr lang="en-US" dirty="0">
                <a:solidFill>
                  <a:schemeClr val="tx1"/>
                </a:solidFill>
              </a:rPr>
              <a:t> We will offer tiered annual subscriptions ranging </a:t>
            </a:r>
            <a:r>
              <a:rPr lang="en-US">
                <a:solidFill>
                  <a:schemeClr val="tx1"/>
                </a:solidFill>
              </a:rPr>
              <a:t>from </a:t>
            </a:r>
            <a:r>
              <a:rPr lang="en-US" b="1">
                <a:solidFill>
                  <a:schemeClr val="tx1"/>
                </a:solidFill>
              </a:rPr>
              <a:t>INR</a:t>
            </a:r>
            <a:r>
              <a:rPr lang="en-US" b="1" dirty="0">
                <a:solidFill>
                  <a:schemeClr val="tx1"/>
                </a:solidFill>
              </a:rPr>
              <a:t> </a:t>
            </a:r>
            <a:r>
              <a:rPr lang="en-US" b="1">
                <a:solidFill>
                  <a:schemeClr val="tx1"/>
                </a:solidFill>
              </a:rPr>
              <a:t>5,000 to 50,000 </a:t>
            </a:r>
            <a:r>
              <a:rPr lang="en-US">
                <a:solidFill>
                  <a:schemeClr val="tx1"/>
                </a:solidFill>
              </a:rPr>
              <a:t>. </a:t>
            </a:r>
            <a:r>
              <a:rPr lang="en-US" dirty="0">
                <a:solidFill>
                  <a:schemeClr val="tx1"/>
                </a:solidFill>
              </a:rPr>
              <a:t>The final price is determined by the customer's size and the scale of their deployment.</a:t>
            </a:r>
          </a:p>
          <a:p>
            <a:pPr marL="0" indent="0">
              <a:buNone/>
            </a:pPr>
            <a:r>
              <a:rPr lang="en-US" b="1" dirty="0">
                <a:solidFill>
                  <a:schemeClr val="tx1"/>
                </a:solidFill>
              </a:rPr>
              <a:t>Business Model Drivers</a:t>
            </a:r>
          </a:p>
          <a:p>
            <a:r>
              <a:rPr lang="en-US" b="1" dirty="0">
                <a:solidFill>
                  <a:schemeClr val="tx1"/>
                </a:solidFill>
              </a:rPr>
              <a:t>Annual Recurring Revenue (ARR):</a:t>
            </a:r>
            <a:r>
              <a:rPr lang="en-US" dirty="0">
                <a:solidFill>
                  <a:schemeClr val="tx1"/>
                </a:solidFill>
              </a:rPr>
              <a:t> The core of our business model is generating predictable ARR from annual contracts with hospitals and diagnostic centers</a:t>
            </a:r>
          </a:p>
          <a:p>
            <a:pPr marL="0" indent="0">
              <a:buNone/>
            </a:pPr>
            <a:r>
              <a:rPr lang="en-US" b="1" dirty="0">
                <a:solidFill>
                  <a:schemeClr val="tx1"/>
                </a:solidFill>
              </a:rPr>
              <a:t>Key Revenue Drivers:</a:t>
            </a:r>
            <a:r>
              <a:rPr lang="en-US" dirty="0">
                <a:solidFill>
                  <a:schemeClr val="tx1"/>
                </a:solidFill>
              </a:rPr>
              <a:t> Pricing tiers are primarily driven by</a:t>
            </a:r>
          </a:p>
          <a:p>
            <a:r>
              <a:rPr lang="en-US" b="1" dirty="0">
                <a:solidFill>
                  <a:schemeClr val="tx1"/>
                </a:solidFill>
              </a:rPr>
              <a:t>Customer Size:</a:t>
            </a:r>
            <a:r>
              <a:rPr lang="en-US" dirty="0">
                <a:solidFill>
                  <a:schemeClr val="tx1"/>
                </a:solidFill>
              </a:rPr>
              <a:t> Small, medium, or large hospitals/centers will have different subscription levels</a:t>
            </a:r>
          </a:p>
          <a:p>
            <a:r>
              <a:rPr lang="en-US" b="1" dirty="0">
                <a:solidFill>
                  <a:schemeClr val="tx1"/>
                </a:solidFill>
              </a:rPr>
              <a:t>Deployment Scale:</a:t>
            </a:r>
            <a:r>
              <a:rPr lang="en-US" dirty="0">
                <a:solidFill>
                  <a:schemeClr val="tx1"/>
                </a:solidFill>
              </a:rPr>
              <a:t> The volume of scans, number of users, or extent of integration will influence the annual cost</a:t>
            </a:r>
          </a:p>
          <a:p>
            <a:pPr marL="0" indent="0">
              <a:buNone/>
            </a:pPr>
            <a:endParaRPr lang="en-US" dirty="0"/>
          </a:p>
        </p:txBody>
      </p:sp>
    </p:spTree>
    <p:extLst>
      <p:ext uri="{BB962C8B-B14F-4D97-AF65-F5344CB8AC3E}">
        <p14:creationId xmlns:p14="http://schemas.microsoft.com/office/powerpoint/2010/main" val="18326481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6244" y="-155446"/>
            <a:ext cx="7886700" cy="812849"/>
          </a:xfrm>
        </p:spPr>
        <p:txBody>
          <a:bodyPr>
            <a:normAutofit/>
          </a:bodyPr>
          <a:lstStyle/>
          <a:p>
            <a:r>
              <a:rPr lang="en-IN" dirty="0"/>
              <a:t>Total Budget, Required Support and Regulation</a:t>
            </a:r>
          </a:p>
        </p:txBody>
      </p:sp>
      <p:sp>
        <p:nvSpPr>
          <p:cNvPr id="3" name="Content Placeholder 2"/>
          <p:cNvSpPr>
            <a:spLocks noGrp="1"/>
          </p:cNvSpPr>
          <p:nvPr>
            <p:ph idx="1"/>
          </p:nvPr>
        </p:nvSpPr>
        <p:spPr>
          <a:xfrm>
            <a:off x="548122" y="1583691"/>
            <a:ext cx="7886700" cy="4351338"/>
          </a:xfrm>
        </p:spPr>
        <p:txBody>
          <a:bodyPr/>
          <a:lstStyle/>
          <a:p>
            <a:r>
              <a:rPr lang="en-US" dirty="0"/>
              <a:t>.</a:t>
            </a:r>
          </a:p>
        </p:txBody>
      </p:sp>
      <p:sp>
        <p:nvSpPr>
          <p:cNvPr id="5" name="Rectangle 2">
            <a:extLst>
              <a:ext uri="{FF2B5EF4-FFF2-40B4-BE49-F238E27FC236}">
                <a16:creationId xmlns:a16="http://schemas.microsoft.com/office/drawing/2014/main" id="{51244D9F-19A2-052F-6BCA-8CF710DAB303}"/>
              </a:ext>
            </a:extLst>
          </p:cNvPr>
          <p:cNvSpPr>
            <a:spLocks noChangeArrowheads="1"/>
          </p:cNvSpPr>
          <p:nvPr/>
        </p:nvSpPr>
        <p:spPr bwMode="auto">
          <a:xfrm>
            <a:off x="0" y="457200"/>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7" name="Rectangle 4">
            <a:extLst>
              <a:ext uri="{FF2B5EF4-FFF2-40B4-BE49-F238E27FC236}">
                <a16:creationId xmlns:a16="http://schemas.microsoft.com/office/drawing/2014/main" id="{C52E6B7E-4C5D-BA91-A9A6-9F2390EC3668}"/>
              </a:ext>
            </a:extLst>
          </p:cNvPr>
          <p:cNvSpPr>
            <a:spLocks noChangeArrowheads="1"/>
          </p:cNvSpPr>
          <p:nvPr/>
        </p:nvSpPr>
        <p:spPr bwMode="auto">
          <a:xfrm>
            <a:off x="548122" y="1020777"/>
            <a:ext cx="8434822"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Funds Raised to Date:</a:t>
            </a:r>
            <a:r>
              <a:rPr kumimoji="0" lang="en-US" altLang="en-US" sz="1800" b="0" i="0" u="none" strike="noStrike" cap="none" normalizeH="0" baseline="0" dirty="0">
                <a:ln>
                  <a:noFill/>
                </a:ln>
                <a:solidFill>
                  <a:schemeClr val="tx1"/>
                </a:solidFill>
                <a:effectLst/>
                <a:latin typeface="Arial" panose="020B0604020202020204" pitchFamily="34" charset="0"/>
              </a:rPr>
              <a:t> This project has been bootstrapped to the current concept and wireframing stage. We have not raised any external capital to date.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Current Ask:</a:t>
            </a:r>
            <a:r>
              <a:rPr kumimoji="0" lang="en-US" altLang="en-US" sz="1800" b="0" i="0" u="none" strike="noStrike" cap="none" normalizeH="0" baseline="0" dirty="0">
                <a:ln>
                  <a:noFill/>
                </a:ln>
                <a:solidFill>
                  <a:schemeClr val="tx1"/>
                </a:solidFill>
                <a:effectLst/>
                <a:latin typeface="Arial" panose="020B0604020202020204" pitchFamily="34" charset="0"/>
              </a:rPr>
              <a:t> We are seeking $[Amount] in [Seed/Pre-Seed] funding.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Use of Funds:</a:t>
            </a:r>
            <a:r>
              <a:rPr kumimoji="0" lang="en-US" altLang="en-US" sz="1800" b="0" i="0" u="none" strike="noStrike" cap="none" normalizeH="0" baseline="0" dirty="0">
                <a:ln>
                  <a:noFill/>
                </a:ln>
                <a:solidFill>
                  <a:schemeClr val="tx1"/>
                </a:solidFill>
                <a:effectLst/>
                <a:latin typeface="Arial" panose="020B0604020202020204" pitchFamily="34" charset="0"/>
              </a:rPr>
              <a:t> The funds will be allocated to: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Product Development:</a:t>
            </a:r>
            <a:r>
              <a:rPr kumimoji="0" lang="en-US" altLang="en-US" sz="1800" b="0" i="0" u="none" strike="noStrike" cap="none" normalizeH="0" baseline="0" dirty="0">
                <a:ln>
                  <a:noFill/>
                </a:ln>
                <a:solidFill>
                  <a:schemeClr val="tx1"/>
                </a:solidFill>
                <a:effectLst/>
                <a:latin typeface="Arial" panose="020B0604020202020204" pitchFamily="34" charset="0"/>
              </a:rPr>
              <a:t> Build and launch the Minimum Viable Product (MVP) based on our existing technical architecture and wireframes.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Pilot Program Launch:</a:t>
            </a:r>
            <a:r>
              <a:rPr kumimoji="0" lang="en-US" altLang="en-US" sz="1800" b="0" i="0" u="none" strike="noStrike" cap="none" normalizeH="0" baseline="0" dirty="0">
                <a:ln>
                  <a:noFill/>
                </a:ln>
                <a:solidFill>
                  <a:schemeClr val="tx1"/>
                </a:solidFill>
                <a:effectLst/>
                <a:latin typeface="Arial" panose="020B0604020202020204" pitchFamily="34" charset="0"/>
              </a:rPr>
              <a:t> Initiate pilot tests with target hospitals to validate the product and gather critical feedback. The sales cycle is estimated to be 3–6 months.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Regulatory Compliance:</a:t>
            </a:r>
            <a:r>
              <a:rPr kumimoji="0" lang="en-US" altLang="en-US" sz="1800" b="0" i="0" u="none" strike="noStrike" cap="none" normalizeH="0" baseline="0" dirty="0">
                <a:ln>
                  <a:noFill/>
                </a:ln>
                <a:solidFill>
                  <a:schemeClr val="tx1"/>
                </a:solidFill>
                <a:effectLst/>
                <a:latin typeface="Arial" panose="020B0604020202020204" pitchFamily="34" charset="0"/>
              </a:rPr>
              <a:t> Ensure the platform meets data privacy and security standards such as HIPAA and GDPR, which are common customer concerns.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Future Funding Plans:</a:t>
            </a:r>
            <a:r>
              <a:rPr kumimoji="0" lang="en-US" altLang="en-US" sz="1800" b="0" i="0" u="none" strike="noStrike" cap="none" normalizeH="0" baseline="0" dirty="0">
                <a:ln>
                  <a:noFill/>
                </a:ln>
                <a:solidFill>
                  <a:schemeClr val="tx1"/>
                </a:solidFill>
                <a:effectLst/>
                <a:latin typeface="Arial" panose="020B0604020202020204" pitchFamily="34" charset="0"/>
              </a:rPr>
              <a:t> After successfully launching the pilot programs and securing initial customers, we plan to raise a Series A round to scale our sales and marketing efforts globally, with a focus on developing regions.</a:t>
            </a:r>
          </a:p>
        </p:txBody>
      </p:sp>
    </p:spTree>
    <p:extLst>
      <p:ext uri="{BB962C8B-B14F-4D97-AF65-F5344CB8AC3E}">
        <p14:creationId xmlns:p14="http://schemas.microsoft.com/office/powerpoint/2010/main" val="1832648127"/>
      </p:ext>
    </p:extLst>
  </p:cSld>
  <p:clrMapOvr>
    <a:masterClrMapping/>
  </p:clrMapOvr>
</p:sld>
</file>

<file path=ppt/theme/theme1.xml><?xml version="1.0" encoding="utf-8"?>
<a:theme xmlns:a="http://schemas.openxmlformats.org/drawingml/2006/main" name="5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219</TotalTime>
  <Words>1017</Words>
  <Application>Microsoft Office PowerPoint</Application>
  <PresentationFormat>On-screen Show (4:3)</PresentationFormat>
  <Paragraphs>70</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5_Office Theme</vt:lpstr>
      <vt:lpstr>Team 8 AI BASED PNEUMONIA DETECTION </vt:lpstr>
      <vt:lpstr>Problem Statement</vt:lpstr>
      <vt:lpstr>Product/ Solution - Innovation</vt:lpstr>
      <vt:lpstr>Product/ Solution - Innovation</vt:lpstr>
      <vt:lpstr>Product/ Solution - Innovation</vt:lpstr>
      <vt:lpstr>Product/ Solution - Readiness Level</vt:lpstr>
      <vt:lpstr>Product Images</vt:lpstr>
      <vt:lpstr>Product/ Solution - Readiness Level</vt:lpstr>
      <vt:lpstr>Team Size, Background, Strength /Capability and Resources</vt:lpstr>
      <vt:lpstr>Market Landscape - Market Potential, Competitors</vt:lpstr>
      <vt:lpstr>Market Landscape - Market Potential, Competitors</vt:lpstr>
      <vt:lpstr>Business Model &amp; Strategy</vt:lpstr>
      <vt:lpstr>Total Budget, Required Support and Regulation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Sample template of PPT -  Application for Pitching</dc:title>
  <dc:creator>Admin</dc:creator>
  <cp:lastModifiedBy>Sharanya M</cp:lastModifiedBy>
  <cp:revision>5</cp:revision>
  <dcterms:created xsi:type="dcterms:W3CDTF">2017-07-03T16:53:36Z</dcterms:created>
  <dcterms:modified xsi:type="dcterms:W3CDTF">2025-10-26T16:53:05Z</dcterms:modified>
</cp:coreProperties>
</file>